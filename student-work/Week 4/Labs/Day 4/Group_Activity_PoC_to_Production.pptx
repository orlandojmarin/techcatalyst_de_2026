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8"/>
    <p:sldId id="257" r:id="rId7"/>
    <p:sldId id="258" r:id="rId6"/>
    <p:sldId id="259" r:id="rId5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ABC953-8484-4DCE-B122-F01048BE8EE5}" v="3" dt="2026-03-23T01:14:17.2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4357A-4340-574B-846D-EECDA5BD6D7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407537" y="6703060"/>
            <a:ext cx="5392738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6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© 2026 The Hartford. Classification: Company Confidential. No part of this document may be reproduced, published, or used without the permission of The Hartford.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From PoC to Production:</a:t>
            </a:r>
          </a:p>
          <a:p>
            <a:r>
              <a:t>Claims Data Pipeline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Presentation | Week 5 Day 1</a:t>
            </a:r>
          </a:p>
          <a:p>
            <a:r>
              <a:t>TechCatalyst Data Engineering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Current state: pandas PoC processes one CSV from S3 to Snowflake</a:t>
            </a:r>
          </a:p>
          <a:p>
            <a:pPr>
              <a:defRPr sz="1800"/>
            </a:pPr>
            <a:r>
              <a:t>Production reality:</a:t>
            </a:r>
          </a:p>
          <a:p>
            <a:pPr lvl="1">
              <a:defRPr sz="1600"/>
            </a:pPr>
            <a:r>
              <a:t>2,400 CSV files landing daily from telematics, claims intake, and partner insurers</a:t>
            </a:r>
          </a:p>
          <a:p>
            <a:pPr lvl="1">
              <a:defRPr sz="1600"/>
            </a:pPr>
            <a:r>
              <a:t>Hundreds of terabytes of historical data</a:t>
            </a:r>
          </a:p>
          <a:p>
            <a:pPr lvl="1">
              <a:defRPr sz="1600"/>
            </a:pPr>
            <a:r>
              <a:t>Three sources must be integrated: joined, deduplicated, standardized</a:t>
            </a:r>
          </a:p>
          <a:p>
            <a:pPr lvl="1">
              <a:defRPr sz="1600"/>
            </a:pPr>
            <a:r>
              <a:t>Claims dashboard must show today's data instantly</a:t>
            </a:r>
          </a:p>
          <a:p>
            <a:pPr>
              <a:defRPr sz="1800"/>
            </a:pPr>
            <a:r>
              <a:t>The ask: a solution architecture that scales, recovers, and stays within budget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 1: The Pandas Ceiling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PoC timing: ~2 min per file (463K rows). At 2,400 files/day = 80 hours on one machine</a:t>
            </a:r>
          </a:p>
          <a:p>
            <a:pPr>
              <a:defRPr sz="1800"/>
            </a:pPr>
            <a:r>
              <a:t>RAM fails first: pandas loads entire file into memory (2x to 5x file size)</a:t>
            </a:r>
          </a:p>
          <a:p>
            <a:pPr lvl="1">
              <a:defRPr sz="1600"/>
            </a:pPr>
            <a:r>
              <a:t>A single 2 GB CSV needs 4 to 10 GB RAM to transform</a:t>
            </a:r>
          </a:p>
          <a:p>
            <a:pPr>
              <a:defRPr sz="1800"/>
            </a:pPr>
            <a:r>
              <a:t>Even if files are small enough individually, orchestrating 2,400 jobs daily requires:</a:t>
            </a:r>
          </a:p>
          <a:p>
            <a:pPr lvl="1">
              <a:defRPr sz="1600"/>
            </a:pPr>
            <a:r>
              <a:t>Tracking successes and failures per file</a:t>
            </a:r>
          </a:p>
          <a:p>
            <a:pPr lvl="1">
              <a:defRPr sz="1600"/>
            </a:pPr>
            <a:r>
              <a:t>Parallelism, retries, and dead-letter handling</a:t>
            </a:r>
          </a:p>
          <a:p>
            <a:pPr>
              <a:defRPr sz="1800"/>
            </a:pPr>
            <a:r>
              <a:t>Solution: distributed processing (Spark via AWS Glue or Snowflake-native loading)</a:t>
            </a:r>
          </a:p>
          <a:p>
            <a:pPr lvl="1">
              <a:defRPr sz="1600"/>
            </a:pPr>
            <a:r>
              <a:t>Spark partitions data across a cluster, processing files in parallel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 2: Where Does Processing Run?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Decision: AWS Glue (managed Spark) + Snowflake for in-warehouse transforms</a:t>
            </a:r>
          </a:p>
          <a:p>
            <a:pPr>
              <a:defRPr sz="1800"/>
            </a:pPr>
            <a:r>
              <a:t>Why AWS Glue:</a:t>
            </a:r>
          </a:p>
          <a:p>
            <a:pPr lvl="1">
              <a:defRPr sz="1600"/>
            </a:pPr>
            <a:r>
              <a:t>Serverless: no clusters to provision, scales to the daily peak automatically</a:t>
            </a:r>
          </a:p>
          <a:p>
            <a:pPr lvl="1">
              <a:defRPr sz="1600"/>
            </a:pPr>
            <a:r>
              <a:t>Native S3 integration (our source data already lives there)</a:t>
            </a:r>
          </a:p>
          <a:p>
            <a:pPr lvl="1">
              <a:defRPr sz="1600"/>
            </a:pPr>
            <a:r>
              <a:t>We already used Glue Visual ETL for our NYC Taxi Bronze/Silver pipeline (Week 3)</a:t>
            </a:r>
          </a:p>
          <a:p>
            <a:pPr>
              <a:defRPr sz="1800"/>
            </a:pPr>
            <a:r>
              <a:t>Why not on-premise:</a:t>
            </a:r>
          </a:p>
          <a:p>
            <a:pPr lvl="1">
              <a:defRPr sz="1600"/>
            </a:pPr>
            <a:r>
              <a:t>Procurement lead time, patching burden, 24/7 on-call for hardware failures</a:t>
            </a:r>
          </a:p>
          <a:p>
            <a:pPr lvl="1">
              <a:defRPr sz="1600"/>
            </a:pPr>
            <a:r>
              <a:t>Cannot elastically scale for daily peak then release capacity</a:t>
            </a:r>
          </a:p>
          <a:p>
            <a:pPr>
              <a:defRPr sz="1800"/>
            </a:pPr>
            <a:r>
              <a:t>Snowflake's role: final transformations (joins, dedup) run inside Snowflake using COPY INTO + SQL</a:t>
            </a:r>
          </a:p>
          <a:p>
            <a:pPr lvl="1">
              <a:defRPr sz="1600"/>
            </a:pPr>
            <a:r>
              <a:t>Company already pays for Snowflake compute; avoids double-paying for transformation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 3: When It Breaks at 3 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Medallion architecture with three layers:</a:t>
            </a:r>
          </a:p>
          <a:p>
            <a:pPr lvl="1">
              <a:defRPr sz="1600"/>
            </a:pPr>
            <a:r>
              <a:t>Bronze (S3): raw files as landed, immutable, the replayable source of truth</a:t>
            </a:r>
          </a:p>
          <a:p>
            <a:pPr lvl="1">
              <a:defRPr sz="1600"/>
            </a:pPr>
            <a:r>
              <a:t>Silver (S3/Snowflake): cleaned, typed, deduplicated, integrated across sources</a:t>
            </a:r>
          </a:p>
          <a:p>
            <a:pPr lvl="1">
              <a:defRPr sz="1600"/>
            </a:pPr>
            <a:r>
              <a:t>Gold (Snowflake): business-ready tables for the claims dashboard</a:t>
            </a:r>
          </a:p>
          <a:p>
            <a:pPr>
              <a:defRPr sz="1800"/>
            </a:pPr>
            <a:r>
              <a:t>Recovery scenario: corrupted partner files discovered 2 days late</a:t>
            </a:r>
          </a:p>
          <a:p>
            <a:pPr lvl="1">
              <a:defRPr sz="1600"/>
            </a:pPr>
            <a:r>
              <a:t>With layers: quarantine bad files, replay Bronze to Silver for affected dates only</a:t>
            </a:r>
          </a:p>
          <a:p>
            <a:pPr lvl="1">
              <a:defRPr sz="1600"/>
            </a:pPr>
            <a:r>
              <a:t>Without layers: rebuild everything from scratch (days of reprocessing)</a:t>
            </a:r>
          </a:p>
          <a:p>
            <a:pPr>
              <a:defRPr sz="1800"/>
            </a:pPr>
            <a:r>
              <a:t>Schema change absorption: Silver layer handles mapping; Bronze and Gold unaffected</a:t>
            </a:r>
          </a:p>
          <a:p>
            <a:pPr>
              <a:defRPr sz="1800"/>
            </a:pPr>
            <a:r>
              <a:t>Idempotency: Snowflake's COPY INTO tracks loaded files automatically</a:t>
            </a:r>
          </a:p>
          <a:p>
            <a:pPr lvl="1">
              <a:defRPr sz="1600"/>
            </a:pPr>
            <a:r>
              <a:t>Re-running the pipeline skips already-loaded files (no duplicates)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 4: Where Do the Layers Live?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Bronze: S3 (object storage)</a:t>
            </a:r>
          </a:p>
          <a:p>
            <a:pPr lvl="1">
              <a:defRPr sz="1600"/>
            </a:pPr>
            <a:r>
              <a:t>Hundreds of TB at ~$0.023/GB/month vs. Snowflake storage at ~$0.040/GB/month</a:t>
            </a:r>
          </a:p>
          <a:p>
            <a:pPr lvl="1">
              <a:defRPr sz="1600"/>
            </a:pPr>
            <a:r>
              <a:t>Immutable archive; no query engine needed on raw files</a:t>
            </a:r>
          </a:p>
          <a:p>
            <a:pPr>
              <a:defRPr sz="1800"/>
            </a:pPr>
            <a:r>
              <a:t>Silver: S3 (Parquet) with Snowflake external tables for query access</a:t>
            </a:r>
          </a:p>
          <a:p>
            <a:pPr lvl="1">
              <a:defRPr sz="1600"/>
            </a:pPr>
            <a:r>
              <a:t>Glue writes cleaned Parquet; Snowflake reads via stage for final integration</a:t>
            </a:r>
          </a:p>
          <a:p>
            <a:pPr>
              <a:defRPr sz="1800"/>
            </a:pPr>
            <a:r>
              <a:t>Gold: Snowflake permanent tables (clustered by date)</a:t>
            </a:r>
          </a:p>
          <a:p>
            <a:pPr lvl="1">
              <a:defRPr sz="1600"/>
            </a:pPr>
            <a:r>
              <a:t>Dashboard queries hit Snowflake directly for sub-second response</a:t>
            </a:r>
          </a:p>
          <a:p>
            <a:pPr lvl="1">
              <a:defRPr sz="1600"/>
            </a:pPr>
            <a:r>
              <a:t>Permanent tables for full Time Travel + Fail-safe recovery</a:t>
            </a:r>
          </a:p>
          <a:p>
            <a:pPr>
              <a:defRPr sz="1800"/>
            </a:pPr>
            <a:r>
              <a:t>Boundary: COPY INTO / external stage is the bridge from S3 into Snowflake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 5: "I Only Want Today"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plain VIEW does not reduce scan cost; it re-executes the full query each time</a:t>
            </a:r>
          </a:p>
          <a:p>
            <a:pPr>
              <a:defRPr sz="1800"/>
            </a:pPr>
            <a:r>
              <a:t>Our solution: a small Gold table rebuilt each morning by the pipeline</a:t>
            </a:r>
          </a:p>
          <a:p>
            <a:pPr lvl="1">
              <a:defRPr sz="1600"/>
            </a:pPr>
            <a:r>
              <a:t>CLAIMS_TODAY: transient table, truncated and reloaded daily by the pipeline</a:t>
            </a:r>
          </a:p>
          <a:p>
            <a:pPr lvl="1">
              <a:defRPr sz="1600"/>
            </a:pPr>
            <a:r>
              <a:t>Fast (scans only one day's data), cheap (transient = no Fail-safe cost)</a:t>
            </a:r>
          </a:p>
          <a:p>
            <a:pPr>
              <a:defRPr sz="1800"/>
            </a:pPr>
            <a:r>
              <a:t>Physical design for the historical table:</a:t>
            </a:r>
          </a:p>
          <a:p>
            <a:pPr lvl="1">
              <a:defRPr sz="1600"/>
            </a:pPr>
            <a:r>
              <a:t>Snowflake clustering key on claim_date enables micro-partition pruning</a:t>
            </a:r>
          </a:p>
          <a:p>
            <a:pPr lvl="1">
              <a:defRPr sz="1600"/>
            </a:pPr>
            <a:r>
              <a:t>Date-filtered queries skip irrelevant partitions entirely</a:t>
            </a:r>
          </a:p>
          <a:p>
            <a:pPr>
              <a:defRPr sz="1800"/>
            </a:pPr>
            <a:r>
              <a:t>Why not a materialized view:</a:t>
            </a:r>
          </a:p>
          <a:p>
            <a:pPr lvl="1">
              <a:defRPr sz="1600"/>
            </a:pPr>
            <a:r>
              <a:t>MV restrictions (single table, no joins) conflict with our integrated Gold model</a:t>
            </a:r>
          </a:p>
          <a:p>
            <a:pPr>
              <a:defRPr sz="1800"/>
            </a:pPr>
            <a:r>
              <a:t>200 opens/day by 40 users: Snowflake result caching covers repeated identical queries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Sizing and Estimates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Tools: S3 (storage), AWS Glue (Spark ETL), Snowflake (warehouse + serving)</a:t>
            </a:r>
          </a:p>
          <a:p>
            <a:pPr>
              <a:defRPr sz="1800"/>
            </a:pPr>
            <a:r>
              <a:t>Build effort:</a:t>
            </a:r>
          </a:p>
          <a:p>
            <a:pPr lvl="1">
              <a:defRPr sz="1600"/>
            </a:pPr>
            <a:r>
              <a:t>Weeks 1-2: Harden PoC, build Glue pipeline for daily ingest</a:t>
            </a:r>
          </a:p>
          <a:p>
            <a:pPr lvl="1">
              <a:defRPr sz="1600"/>
            </a:pPr>
            <a:r>
              <a:t>Weeks 3-4: Integration logic (joins, dedup, standardization) in Snowflake</a:t>
            </a:r>
          </a:p>
          <a:p>
            <a:pPr lvl="1">
              <a:defRPr sz="1600"/>
            </a:pPr>
            <a:r>
              <a:t>Weeks 5-6: Historical backfill (hundreds of TB at ~2 TB/hour with 10 Glue workers)</a:t>
            </a:r>
          </a:p>
          <a:p>
            <a:pPr lvl="1">
              <a:defRPr sz="1600"/>
            </a:pPr>
            <a:r>
              <a:t>Week 7: Cutover, monitoring, dashboard validation</a:t>
            </a:r>
          </a:p>
          <a:p>
            <a:pPr>
              <a:defRPr sz="1800"/>
            </a:pPr>
            <a:r>
              <a:t>Team: 2 data engineers, 1 platform/DevOps, 1 analyst liaison (smallest viable: 2 DEs)</a:t>
            </a:r>
          </a:p>
          <a:p>
            <a:pPr>
              <a:defRPr sz="1800"/>
            </a:pPr>
            <a:r>
              <a:t>Monthly cost drivers:</a:t>
            </a:r>
          </a:p>
          <a:p>
            <a:pPr lvl="1">
              <a:defRPr sz="1600"/>
            </a:pPr>
            <a:r>
              <a:t>S3 storage: ~$5,000/month for 200 TB (largest line item, controlled by lifecycle policies)</a:t>
            </a:r>
          </a:p>
          <a:p>
            <a:pPr lvl="1">
              <a:defRPr sz="1600"/>
            </a:pPr>
            <a:r>
              <a:t>Glue compute: ~$1,200/month (2,400 files/day, 2 DPU-hours, controlled by worker count)</a:t>
            </a:r>
          </a:p>
          <a:p>
            <a:pPr lvl="1">
              <a:defRPr sz="1600"/>
            </a:pPr>
            <a:r>
              <a:t>Snowflake compute: ~$2,000/month (COMPUTE_WH, auto-suspend controls idle cost)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Three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Partner file quality degrades silently</a:t>
            </a:r>
          </a:p>
          <a:p>
            <a:pPr lvl="1">
              <a:defRPr sz="1600"/>
            </a:pPr>
            <a:r>
              <a:t>Mitigation: data contract gate between Bronze and Silver</a:t>
            </a:r>
          </a:p>
          <a:p>
            <a:pPr lvl="1">
              <a:defRPr sz="1600"/>
            </a:pPr>
            <a:r>
              <a:t>Schema checks, row-count thresholds, freshness alerts; quarantine on failure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2. Backfill takes longer than estimated, blocks cutover</a:t>
            </a:r>
          </a:p>
          <a:p>
            <a:pPr lvl="1">
              <a:defRPr sz="1600"/>
            </a:pPr>
            <a:r>
              <a:t>Mitigation: run backfill on a separate Glue job with higher parallelism</a:t>
            </a:r>
          </a:p>
          <a:p>
            <a:pPr lvl="1">
              <a:defRPr sz="1600"/>
            </a:pPr>
            <a:r>
              <a:t>Process in date-range chunks; validate incrementally rather than all-or-nothing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3. Snowflake costs spike unexpectedly during peak analyst usage</a:t>
            </a:r>
          </a:p>
          <a:p>
            <a:pPr lvl="1">
              <a:defRPr sz="1600"/>
            </a:pPr>
            <a:r>
              <a:t>Mitigation: auto-suspend warehouse after 60s idle, resource monitors with alerts</a:t>
            </a:r>
          </a:p>
          <a:p>
            <a:pPr lvl="1">
              <a:defRPr sz="1600"/>
            </a:pPr>
            <a:r>
              <a:t>Separate warehouse for dashboard reads vs. ETL loads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Summary (5 Challenges)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Pandas ceiling: Replace with distributed Spark (Glue) for parallelism and fault tolerance</a:t>
            </a:r>
          </a:p>
          <a:p>
            <a:pPr>
              <a:defRPr sz="1800"/>
            </a:pPr>
            <a:r>
              <a:t>2. Processing location: AWS Glue (ingest/clean) + Snowflake (integrate/serve)</a:t>
            </a:r>
          </a:p>
          <a:p>
            <a:pPr>
              <a:defRPr sz="1800"/>
            </a:pPr>
            <a:r>
              <a:t>3. Failure recovery: Medallion layers + Snowflake COPY INTO idempotency</a:t>
            </a:r>
          </a:p>
          <a:p>
            <a:pPr>
              <a:defRPr sz="1800"/>
            </a:pPr>
            <a:r>
              <a:t>4. Layer placement: S3 for Bronze/Silver (cost), Snowflake for Gold (performance)</a:t>
            </a:r>
          </a:p>
          <a:p>
            <a:pPr>
              <a:defRPr sz="1800"/>
            </a:pPr>
            <a:r>
              <a:t>5. "Today" query: Daily-rebuilt transient Gold table + clustering for historical access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(See accompanying draw.io diagram)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Flow: Sources (3 feeds) -&gt; S3 Bronze -&gt; Glue Spark (clean/standardize) -&gt; S3 Silver</a:t>
            </a:r>
          </a:p>
          <a:p>
            <a:pPr>
              <a:defRPr sz="1800"/>
            </a:pPr>
            <a:r>
              <a:t>     -&gt; Snowflake COPY INTO (integrate/dedup) -&gt; Gold tables -&gt; Claims Dashboard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Cross-cutting: Orchestration (Glue Workflows / future Airflow)</a:t>
            </a:r>
          </a:p>
          <a:p>
            <a:pPr>
              <a:defRPr sz="1800"/>
            </a:pPr>
            <a:r>
              <a:t>Cross-cutting: Governance (IAM, Snowflake RBAC, data contracts)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Every arrow labeled with: what moves, format, and cadence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 chose AWS Glue + Snowflake over a pure-Snowflake or pure-Spark approach</a:t>
            </a:r>
          </a:p>
          <a:p>
            <a:r>
              <a:t>because it leverages existing investments while keeping each layer's cost optimal.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DA812B8955164882EAE83179F6297D" ma:contentTypeVersion="3" ma:contentTypeDescription="Create a new document." ma:contentTypeScope="" ma:versionID="9bc26636b2439ebfc6d2105333f5318f">
  <xsd:schema xmlns:xsd="http://www.w3.org/2001/XMLSchema" xmlns:xs="http://www.w3.org/2001/XMLSchema" xmlns:p="http://schemas.microsoft.com/office/2006/metadata/properties" xmlns:ns2="705ffef0-566b-46b6-a84e-23e98272dd50" targetNamespace="http://schemas.microsoft.com/office/2006/metadata/properties" ma:root="true" ma:fieldsID="d4c8be2a9998439c7b37003c3847790f" ns2:_="">
    <xsd:import namespace="705ffef0-566b-46b6-a84e-23e98272dd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5ffef0-566b-46b6-a84e-23e98272dd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F45F676-7DB9-4BE3-B97D-B5DC569D70FB}">
  <ds:schemaRefs>
    <ds:schemaRef ds:uri="705ffef0-566b-46b6-a84e-23e98272dd5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12C7C58-8A9E-491E-9A58-6B1A604FCB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3A399B4-55F0-49BB-BB32-83E6AEFC1E99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05ffef0-566b-46b6-a84e-23e98272dd50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794</Words>
  <Application>Microsoft Office PowerPoint</Application>
  <PresentationFormat>Widescreen</PresentationFormat>
  <Paragraphs>133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Papanasam, Vasan S (Data Science AI and Analytics)</cp:lastModifiedBy>
  <cp:revision>2</cp:revision>
  <dcterms:created xsi:type="dcterms:W3CDTF">2013-01-27T09:14:16Z</dcterms:created>
  <dcterms:modified xsi:type="dcterms:W3CDTF">2026-03-23T16:15:58Z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12ec1e4-f08d-4db9-9ea3-a141370d52a9_Enabled">
    <vt:lpwstr>true</vt:lpwstr>
  </property>
  <property fmtid="{D5CDD505-2E9C-101B-9397-08002B2CF9AE}" pid="3" name="MSIP_Label_e12ec1e4-f08d-4db9-9ea3-a141370d52a9_SetDate">
    <vt:lpwstr>2026-03-20T18:02:50Z</vt:lpwstr>
  </property>
  <property fmtid="{D5CDD505-2E9C-101B-9397-08002B2CF9AE}" pid="4" name="MSIP_Label_e12ec1e4-f08d-4db9-9ea3-a141370d52a9_Method">
    <vt:lpwstr>Privileged</vt:lpwstr>
  </property>
  <property fmtid="{D5CDD505-2E9C-101B-9397-08002B2CF9AE}" pid="5" name="MSIP_Label_e12ec1e4-f08d-4db9-9ea3-a141370d52a9_Name">
    <vt:lpwstr>CC - Show Footer</vt:lpwstr>
  </property>
  <property fmtid="{D5CDD505-2E9C-101B-9397-08002B2CF9AE}" pid="6" name="MSIP_Label_e12ec1e4-f08d-4db9-9ea3-a141370d52a9_SiteId">
    <vt:lpwstr>a311fc62-83f4-45f0-9502-1bb2247d4c8d</vt:lpwstr>
  </property>
  <property fmtid="{D5CDD505-2E9C-101B-9397-08002B2CF9AE}" pid="7" name="MSIP_Label_e12ec1e4-f08d-4db9-9ea3-a141370d52a9_ActionId">
    <vt:lpwstr>cc4472d0-77b3-41a7-833c-8d5d012bd8f8</vt:lpwstr>
  </property>
  <property fmtid="{D5CDD505-2E9C-101B-9397-08002B2CF9AE}" pid="8" name="MSIP_Label_e12ec1e4-f08d-4db9-9ea3-a141370d52a9_ContentBits">
    <vt:lpwstr>2</vt:lpwstr>
  </property>
  <property fmtid="{D5CDD505-2E9C-101B-9397-08002B2CF9AE}" pid="9" name="MSIP_Label_e12ec1e4-f08d-4db9-9ea3-a141370d52a9_Tag">
    <vt:lpwstr>10, 0, 1, 1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© 2026 The Hartford. Classification: Company Confidential. No part of this document may be reproduced, published, or used without the permission of The Hartford.</vt:lpwstr>
  </property>
  <property fmtid="{D5CDD505-2E9C-101B-9397-08002B2CF9AE}" pid="12" name="ContentTypeId">
    <vt:lpwstr>0x01010087DA812B8955164882EAE83179F6297D</vt:lpwstr>
  </property>
</Properties>
</file>