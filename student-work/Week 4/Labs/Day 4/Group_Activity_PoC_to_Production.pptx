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8"/>
    <p:sldId id="257" r:id="rId7"/>
    <p:sldId id="258" r:id="rId6"/>
    <p:sldId id="259" r:id="rId5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ABC953-8484-4DCE-B122-F01048BE8EE5}" v="3" dt="2026-03-23T01:14:17.2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slide" Target="slides/slide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04357A-4340-574B-846D-EECDA5BD6D7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3407537" y="6703060"/>
            <a:ext cx="5392738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6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© 2026 The Hartford. Classification: Company Confidential. No part of this document may be reproduced, published, or used without the permission of The Hartford.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E3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Georgia"/>
              </a:defRPr>
            </a:pPr>
            <a:r>
              <a:t>From PoC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>
                <a:solidFill>
                  <a:srgbClr val="FFFFFF"/>
                </a:solidFill>
                <a:latin typeface="Georgia"/>
              </a:defRPr>
            </a:pPr>
            <a:r>
              <a:t>Claims Data Pipeline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023360"/>
            <a:ext cx="3931920" cy="25400"/>
          </a:xfrm>
          <a:prstGeom prst="rect">
            <a:avLst/>
          </a:prstGeom>
          <a:solidFill>
            <a:srgbClr val="FE3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418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AE5DF"/>
                </a:solidFill>
                <a:latin typeface="Arial"/>
              </a:defRPr>
            </a:pPr>
            <a:r>
              <a:t>Group Presentation  |  Week 5 Day 1  |  TechCatalyst Data Engineering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FE3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The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E97C0"/>
                </a:solidFill>
                <a:latin typeface="Arial"/>
              </a:defRPr>
            </a:pPr>
            <a:r>
              <a:t>VP of Claims Analytics Memo  |  Production Scale Challenge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5615787" cy="2300000"/>
          </a:xfrm>
          <a:prstGeom prst="round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1828800" cy="320040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CURRENT STATE (PoC)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5158587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One CSV file processed with pandas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Read from S3, clean with Python, push to Snowflake via write_pandas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Works for 463K rows in ~2 minutes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Single machine, single script, no error handling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1371600"/>
            <a:ext cx="5615787" cy="2300000"/>
          </a:xfrm>
          <a:prstGeom prst="round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47307" y="1508760"/>
            <a:ext cx="2200000" cy="320040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3027" y="1508760"/>
            <a:ext cx="2200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PRODUCTION REALITY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1920240"/>
            <a:ext cx="5158587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2,400 CSV files landing daily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Three sources: telematics, claims intake, partner insurers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Hundreds of TB of historical data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Must integrate: join, deduplicate, standardize to one schema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Dashboard must show today's data instantly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900000"/>
            <a:ext cx="11460174" cy="1200000"/>
          </a:xfrm>
          <a:prstGeom prst="round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037160"/>
            <a:ext cx="1371600" cy="320040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37160"/>
            <a:ext cx="1371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THE 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50000"/>
            <a:ext cx="1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Solution architecture: what to build, on what services, why, what it costs, and what happens when it breaks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No code. Design decisions, trade-offs, diagram, sizing, and a defense.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Challenge 1: The Pandas Ceiling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E97C0"/>
                </a:solidFill>
                <a:latin typeface="Arial"/>
              </a:defRPr>
            </a:pPr>
            <a:r>
              <a:t>Why the PoC Cannot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5615787" cy="5100000"/>
          </a:xfrm>
          <a:prstGeom prst="round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1828800" cy="320040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THE MATH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5158587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PoC: ~2 min per file (463K rows)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Production: 2,400 files/day x 2 min = 80 hours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That is 3.3 days to process 1 day's data (never catches up)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RAM fails first: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Pandas loads entire file into memory (2x-5x file size)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A 2 GB CSV needs 4-10 GB RAM to transform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Even with small files, orchestration fails: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Tracking 2,400 successes/failures daily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Retry logic, dead-letter handling, parallelism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No built-in checkpointing or recovery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1371600"/>
            <a:ext cx="5615787" cy="2800000"/>
          </a:xfrm>
          <a:prstGeom prst="round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47307" y="1508760"/>
            <a:ext cx="1371600" cy="320040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3027" y="1508760"/>
            <a:ext cx="1371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1920240"/>
            <a:ext cx="5158587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Replace pandas with distributed Spark processing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Spark partitions data across a cluster: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- Processes files in parallel (not serial)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- Built-in fault tolerance (task retry)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- Scales horizontally by adding workers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We chose X over Y because: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Chose Spark (via Glue) over pandas-per-file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because orchestrating 2,400 serial pandas jobs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still leaves no fault tolerance or parallelism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Challenge 2: Where Does Processing Run?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E97C0"/>
                </a:solidFill>
                <a:latin typeface="Arial"/>
              </a:defRPr>
            </a:pPr>
            <a:r>
              <a:t>Cloud Service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5615787" cy="5100000"/>
          </a:xfrm>
          <a:prstGeom prst="round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2400000" cy="320040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2400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DECISION: AWS GLUE + SNOWFLAKE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5158587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AWS Glue (Managed Spark):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- Serverless: no clusters to provision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- Scales to daily peak automatically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- Native S3 integration (data already there)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- We used Glue Visual ETL in Week 3 (NYC Taxi)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Snowflake (Final Integration):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- Company already pays for compute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- JOIN, dedup, standardize run as SQL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- COPY INTO for bulk S3 loading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GCP equivalent: Cloud Dataflow / Dataproc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Alternative: Databricks (managed Spark)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1371600"/>
            <a:ext cx="5615787" cy="5100000"/>
          </a:xfrm>
          <a:prstGeom prst="round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47307" y="1508760"/>
            <a:ext cx="2400000" cy="320040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3027" y="1508760"/>
            <a:ext cx="2400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WHY NOT ON-PREMISE?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1920240"/>
            <a:ext cx="5158587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Procurement lead time (weeks/months)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Patching and maintenance burden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Cannot scale elastically for daily peak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24/7 on-call for hardware failures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Capital expense vs. operational expense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Why not pure Snowflake?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- Spark (Glue) handles complex Python cleaning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  (regex, custom logic) that SQL does awkwardly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- S3 staging is cheaper than Snowflake storage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- Each tool where it is strongest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Why not Databricks over Glue?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- Adds separate vendor relationship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- Glue is native to AWS (S3 already there)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- Managed Spark sufficient for CSV-to-Parquet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Challenge 3: When It Breaks at 3 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E97C0"/>
                </a:solidFill>
                <a:latin typeface="Arial"/>
              </a:defRPr>
            </a:pPr>
            <a:r>
              <a:t>Medallion Layers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5615787" cy="5100000"/>
          </a:xfrm>
          <a:prstGeom prst="round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2400000" cy="320040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2400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MEDALLION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5158587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Bronze (S3):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Raw files as landed, immutable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The replayable source of truth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Silver (S3, Parquet):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Cleaned, typed, deduplicated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Standardized across all three sources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Absorbs schema changes from sources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Gold (Snowflake):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Business-ready integrated tables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Serves the claims dashboard directly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Schema change: Silver mapping updates;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Bronze and Gold unaffected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1371600"/>
            <a:ext cx="5615787" cy="5100000"/>
          </a:xfrm>
          <a:prstGeom prst="round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47307" y="1508760"/>
            <a:ext cx="2800000" cy="320040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3027" y="1508760"/>
            <a:ext cx="2800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RECOVERY + IDEMPOTENCY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1920240"/>
            <a:ext cx="5158587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Corrupted partner files (Tue, found Thu):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WITH layers: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  Quarantine bad files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  Replay Bronze -&gt; Silver for those dates only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  Reload affected Gold tables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WITHOUT layers: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  Rebuild everything from original source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  Days of reprocessing, no isolation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Idempotency (run again = no damage):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Snowflake COPY INTO tracks loaded files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Re-running skips already-loaded files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No duplicates, no manual ledger needed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Data contract gate between Bronze and Silver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catches bad data before it reaches Gold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Challenge 4: Where Do the Layers Live?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E97C0"/>
                </a:solidFill>
                <a:latin typeface="Arial"/>
              </a:defRPr>
            </a:pPr>
            <a:r>
              <a:t>Storage Placement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11460174" cy="5100000"/>
          </a:xfrm>
          <a:prstGeom prst="round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2400000" cy="320040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2400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LAYER-BY-LAYER 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5158587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Bronze: S3 (object storage)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~$0.023/GB/month for hundreds of TB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Immutable archive, no query engine needed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Lifecycle policy: move to Glacier after 90 days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Silver: S3 (Snappy Parquet)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Glue writes clean Parquet here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Snowflake reads via external stage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Cheaper bulk storage for intermediate data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Gold: Snowflake permanent tables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Sub-second dashboard response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Full Time Travel + Fail-safe recovery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Clustered by claim_date for pruning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747" y="1920240"/>
            <a:ext cx="5158587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Table types (from Week 4 Lesson 3):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Bronze: N/A (S3 objects, not tables)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Silver: Transient tables (if staged in SF)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  No Fail-safe cost, rebuildable from Bronze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Gold: Permanent tables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  Business depends on this data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  Time Travel (recover mistakes)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  Fail-safe (7-day Snowflake safety net)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CLAIMS_TODAY: Transient table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  Rebuilt daily, cheap, no recovery needed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Boundary: External stage + COPY INTO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bridges S3 into Snowflake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Challenge 5: "I Only Want Today"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E97C0"/>
                </a:solidFill>
                <a:latin typeface="Arial"/>
              </a:defRPr>
            </a:pPr>
            <a:r>
              <a:t>Dashboard Performance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5615787" cy="5100000"/>
          </a:xfrm>
          <a:prstGeom prst="round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2800000" cy="320040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2800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OPTIONS CONSIDERED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5158587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Option A: Plain VIEW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CREATE VIEW today AS SELECT ... WHERE date = CURRENT_DATE()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Problem: re-runs full scan every read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200 opens/day = 200 full table scans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Option B: Materialized View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Auto-refreshed precomputed results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Problem: restricted (single table, no joins)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Our Gold model requires joins = disqualified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Option C: Daily-rebuilt transient table (CHOSEN)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Pipeline truncates and reloads each morning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Scans only one day's data at build time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Reads hit result cache (zero compute)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Transient = no Fail-safe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1371600"/>
            <a:ext cx="5615787" cy="5100000"/>
          </a:xfrm>
          <a:prstGeom prst="round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47307" y="1508760"/>
            <a:ext cx="2800000" cy="320040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3027" y="1508760"/>
            <a:ext cx="2800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PHYSICAL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1920240"/>
            <a:ext cx="5158587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Historical table (CLAIMS_HISTORY):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Clustering key on claim_date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Micro-partition pruning skips irrelevant data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Same concept as BigQuery partitioning (Week 4)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Dashboard usage pattern: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200 opens/day by 40 people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Snowflake result caching: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  Identical queries return cached results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  Zero additional compute cost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Freshness: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CLAIMS_TODAY rebuilt at 05:00 UTC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Dashboard always shows complete prior day</a:t>
            </a:r>
          </a:p>
          <a:p>
            <a:pPr>
              <a:spcAft>
                <a:spcPts val="400"/>
              </a:spcAft>
              <a:defRPr sz="1100">
                <a:solidFill>
                  <a:srgbClr val="272727"/>
                </a:solidFill>
                <a:latin typeface="Arial"/>
              </a:defRPr>
            </a:pPr>
            <a:r>
              <a:t>  Acceptable for claims leadership use case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Decision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E97C0"/>
                </a:solidFill>
                <a:latin typeface="Arial"/>
              </a:defRPr>
            </a:pPr>
            <a:r>
              <a:t>Five Challenges, Five Decisions  |  Required Deliverable #2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11460174" cy="5100000"/>
          </a:xfrm>
          <a:prstGeom prst="round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2800000" cy="320040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2800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FIVE DECISIONS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980000"/>
          <a:ext cx="11100000" cy="3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/>
                <a:gridCol w="3800000"/>
                <a:gridCol w="4900000"/>
              </a:tblGrid>
              <a:tr h="633333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Challenge</a:t>
                      </a:r>
                    </a:p>
                  </a:txBody>
                  <a:tcPr>
                    <a:solidFill>
                      <a:srgbClr val="1C2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1C2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Justification</a:t>
                      </a:r>
                    </a:p>
                  </a:txBody>
                  <a:tcPr>
                    <a:solidFill>
                      <a:srgbClr val="1C2E5E"/>
                    </a:solidFill>
                  </a:tcPr>
                </a:tc>
              </a:tr>
              <a:tr h="63333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2727"/>
                          </a:solidFill>
                          <a:latin typeface="Arial"/>
                        </a:defRPr>
                      </a:pPr>
                      <a:r>
                        <a:t>1. Pandas ceiling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2727"/>
                          </a:solidFill>
                          <a:latin typeface="Arial"/>
                        </a:defRPr>
                      </a:pPr>
                      <a:r>
                        <a:t>Distributed Spark via AWS Glue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2727"/>
                          </a:solidFill>
                          <a:latin typeface="Arial"/>
                        </a:defRPr>
                      </a:pPr>
                      <a:r>
                        <a:t>80 hrs serial on one machine vs. parallel across a cluster with built-in retry</a:t>
                      </a:r>
                    </a:p>
                  </a:txBody>
                  <a:tcPr/>
                </a:tc>
              </a:tr>
              <a:tr h="63333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2727"/>
                          </a:solidFill>
                          <a:latin typeface="Arial"/>
                        </a:defRPr>
                      </a:pPr>
                      <a:r>
                        <a:t>2. Processing 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2727"/>
                          </a:solidFill>
                          <a:latin typeface="Arial"/>
                        </a:defRPr>
                      </a:pPr>
                      <a:r>
                        <a:t>AWS Glue (ingest/clean) + Snowflake (integrate/serve)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2727"/>
                          </a:solidFill>
                          <a:latin typeface="Arial"/>
                        </a:defRPr>
                      </a:pPr>
                      <a:r>
                        <a:t>Serverless Spark for Python cleaning; Snowflake SQL for joins/dedup on existing license</a:t>
                      </a:r>
                    </a:p>
                  </a:txBody>
                  <a:tcPr/>
                </a:tc>
              </a:tr>
              <a:tr h="63333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2727"/>
                          </a:solidFill>
                          <a:latin typeface="Arial"/>
                        </a:defRPr>
                      </a:pPr>
                      <a:r>
                        <a:t>3. Failure recovery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2727"/>
                          </a:solidFill>
                          <a:latin typeface="Arial"/>
                        </a:defRPr>
                      </a:pPr>
                      <a:r>
                        <a:t>Medallion layers + COPY INTO idempotency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2727"/>
                          </a:solidFill>
                          <a:latin typeface="Arial"/>
                        </a:defRPr>
                      </a:pPr>
                      <a:r>
                        <a:t>Layers isolate failures to affected dates; COPY INTO prevents duplicates on re-run</a:t>
                      </a:r>
                    </a:p>
                  </a:txBody>
                  <a:tcPr/>
                </a:tc>
              </a:tr>
              <a:tr h="63333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2727"/>
                          </a:solidFill>
                          <a:latin typeface="Arial"/>
                        </a:defRPr>
                      </a:pPr>
                      <a:r>
                        <a:t>4. Layer 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2727"/>
                          </a:solidFill>
                          <a:latin typeface="Arial"/>
                        </a:defRPr>
                      </a:pPr>
                      <a:r>
                        <a:t>S3 for Bronze/Silver, Snowflake for Gold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2727"/>
                          </a:solidFill>
                          <a:latin typeface="Arial"/>
                        </a:defRPr>
                      </a:pPr>
                      <a:r>
                        <a:t>S3 at $0.023/GB for bulk; Snowflake permanent tables for dashboard speed + recovery</a:t>
                      </a:r>
                    </a:p>
                  </a:txBody>
                  <a:tcPr/>
                </a:tc>
              </a:tr>
              <a:tr h="63333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2727"/>
                          </a:solidFill>
                          <a:latin typeface="Arial"/>
                        </a:defRPr>
                      </a:pPr>
                      <a:r>
                        <a:t>5. Today's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2727"/>
                          </a:solidFill>
                          <a:latin typeface="Arial"/>
                        </a:defRPr>
                      </a:pPr>
                      <a:r>
                        <a:t>Daily-rebuilt transient table + 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2727"/>
                          </a:solidFill>
                          <a:latin typeface="Arial"/>
                        </a:defRPr>
                      </a:pPr>
                      <a:r>
                        <a:t>Pre-built table avoids repeated scans; clustering enables fast historical ad-hoc queries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Sizing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E97C0"/>
                </a:solidFill>
                <a:latin typeface="Arial"/>
              </a:defRPr>
            </a:pPr>
            <a:r>
              <a:t>Estimates and Assumptions  |  Required Deliverable #3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11460174" cy="5100000"/>
          </a:xfrm>
          <a:prstGeom prst="round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000"/>
          <a:ext cx="11100000" cy="4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/>
                <a:gridCol w="8900000"/>
              </a:tblGrid>
              <a:tr h="76666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1C2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Answer</a:t>
                      </a:r>
                    </a:p>
                  </a:txBody>
                  <a:tcPr>
                    <a:solidFill>
                      <a:srgbClr val="1C2E5E"/>
                    </a:solidFill>
                  </a:tcPr>
                </a:tc>
              </a:tr>
              <a:tr h="76666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72727"/>
                          </a:solidFill>
                          <a:latin typeface="Arial"/>
                        </a:defRPr>
                      </a:pPr>
                      <a:r>
                        <a:t>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2727"/>
                          </a:solidFill>
                          <a:latin typeface="Arial"/>
                        </a:defRPr>
                      </a:pPr>
                      <a:r>
                        <a:t>S3 (raw/clean storage), AWS Glue (Spark ETL), Snowflake (warehouse + serving), Glue Workflows (orchestration)</a:t>
                      </a:r>
                    </a:p>
                  </a:txBody>
                  <a:tcPr/>
                </a:tc>
              </a:tr>
              <a:tr h="76666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72727"/>
                          </a:solidFill>
                          <a:latin typeface="Arial"/>
                        </a:defRPr>
                      </a:pPr>
                      <a:r>
                        <a:t>Build effort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2727"/>
                          </a:solidFill>
                          <a:latin typeface="Arial"/>
                        </a:defRPr>
                      </a:pPr>
                      <a:r>
                        <a:t>Wk 1-2: Harden PoC + Glue pipeline | Wk 3-4: Integration SQL (joins, dedup) | Wk 5-6: Backfill historical TB | Wk 7: Cutover + monitoring</a:t>
                      </a:r>
                    </a:p>
                  </a:txBody>
                  <a:tcPr/>
                </a:tc>
              </a:tr>
              <a:tr h="76666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72727"/>
                          </a:solidFill>
                          <a:latin typeface="Arial"/>
                        </a:defRPr>
                      </a:pPr>
                      <a:r>
                        <a:t>The backfill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2727"/>
                          </a:solidFill>
                          <a:latin typeface="Arial"/>
                        </a:defRPr>
                      </a:pPr>
                      <a:r>
                        <a:t>~100 hrs for 200 TB at ~2 TB/hr (10 Glue workers, G.2X). Same pipeline logic, higher parallelism. Process in date-range chunks.</a:t>
                      </a:r>
                    </a:p>
                  </a:txBody>
                  <a:tcPr/>
                </a:tc>
              </a:tr>
              <a:tr h="76666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72727"/>
                          </a:solidFill>
                          <a:latin typeface="Arial"/>
                        </a:defRPr>
                      </a:pPr>
                      <a:r>
                        <a:t>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2727"/>
                          </a:solidFill>
                          <a:latin typeface="Arial"/>
                        </a:defRPr>
                      </a:pPr>
                      <a:r>
                        <a:t>2 data engineers (pipeline + SQL), 1 platform/DevOps (infra + monitoring), 1 analyst liaison (validation). Smallest viable: 2 DEs.</a:t>
                      </a:r>
                    </a:p>
                  </a:txBody>
                  <a:tcPr/>
                </a:tc>
              </a:tr>
              <a:tr h="76667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72727"/>
                          </a:solidFill>
                          <a:latin typeface="Arial"/>
                        </a:defRPr>
                      </a:pPr>
                      <a:r>
                        <a:t>Run cost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2727"/>
                          </a:solidFill>
                          <a:latin typeface="Arial"/>
                        </a:defRPr>
                      </a:pPr>
                      <a:r>
                        <a:t>S3: ~$5K/mo (200 TB, knob: lifecycle to Glacier) | Glue: ~$1.2K/mo (2,400 files, knob: worker count) | Snowflake: ~$2K/mo (knob: auto-suspend + WH size)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Top Three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E97C0"/>
                </a:solidFill>
                <a:latin typeface="Arial"/>
              </a:defRPr>
            </a:pPr>
            <a:r>
              <a:t>Risk + Mitigation  |  Required Deliverable #4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3700000" cy="5100000"/>
          </a:xfrm>
          <a:prstGeom prst="round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600000" cy="320040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600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RISK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340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Partner file quality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degrades silently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Impact: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Bad data reaches Gold tables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Dashboard shows wrong numbers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Trust erodes with leadership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Mitigation: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Data contract gate (Bronze-&gt;Silver)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Schema checks per source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Row-count thresholds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Freshness alerts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Auto-quarantine on failure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0000" y="1371600"/>
            <a:ext cx="3700000" cy="5100000"/>
          </a:xfrm>
          <a:prstGeom prst="round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7160" y="1508760"/>
            <a:ext cx="600000" cy="320040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2880" y="1508760"/>
            <a:ext cx="600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RISK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7160" y="1920240"/>
            <a:ext cx="340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Backfill takes longer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than estimated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Impact: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Blocks go-live date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Historical data unavailable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Analysts cannot run reports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Mitigation: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Separate high-parallelism job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Process in date-range chunks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Validate incrementally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Daily pipeline runs in parallel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(not blocked by backfill)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4240" y="1371600"/>
            <a:ext cx="3700000" cy="5100000"/>
          </a:xfrm>
          <a:prstGeom prst="round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1400" y="1508760"/>
            <a:ext cx="600000" cy="320040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7120" y="1508760"/>
            <a:ext cx="600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RISK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1400" y="1920240"/>
            <a:ext cx="340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Snowflake costs spike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unexpectedly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Impact: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Monthly bill exceeds budget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Finance questions the project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Mitigation: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Auto-suspend WH after 60s idle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Resource monitors with $ alerts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Separate warehouses: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  ETL_WH for pipeline loads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  DASHBOARD_WH for reads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Right-size each independently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E97C0"/>
                </a:solidFill>
                <a:latin typeface="Arial"/>
              </a:defRPr>
            </a:pPr>
            <a:r>
              <a:t>See: claims_pipeline_architecture.drawio  |  Required Deliverable #1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11460174" cy="5100000"/>
          </a:xfrm>
          <a:prstGeom prst="round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2800000" cy="320040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2800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END-TO-END DATA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1100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Sources (3 feeds: telematics, claims intake, partner insurers)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  |  CSV daily, ~800 files each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  v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S3 Bronze (raw landing zone, immutable, partitioned by source + date)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  |  Raw CSV as landed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  v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AWS Glue Spark Jobs (schema validation, NULL handling, type casting, standardize columns)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  |  Data contract gate: pass/fail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  v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S3 Silver (Snappy Parquet, cleaned/typed/deduped, partitioned by date)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  |  Bulk load from S3 stage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  v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Snowflake External Stage + COPY INTO (idempotent file tracking)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  |  Integration SQL: JOIN on policy+incident keys, DEDUPLICATE, STANDARDIZE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  v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Snowflake Gold (CLAIMS_HISTORY permanent + CLAIMS_TODAY transient)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  |  SQL queries (result cached)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    v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Claims Leadership Dashboard (Tableau/Streamlit, 200 opens/day, 40 users)</a:t>
            </a: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72727"/>
                </a:solidFill>
                <a:latin typeface="Arial"/>
              </a:defRPr>
            </a:pPr>
            <a:r>
              <a:t>Cross-cutting: Glue Workflows (schedule, retry, alert)  |  IAM + Snowflake RBAC (governance)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E3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00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Georgia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00000"/>
            <a:ext cx="941832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EAE5DF"/>
                </a:solidFill>
                <a:latin typeface="Arial"/>
              </a:defRPr>
            </a:pPr>
            <a:r>
              <a:t>We chose AWS Glue + Snowflake over pure-Snowflake or pure-Spark</a:t>
            </a:r>
          </a:p>
          <a:p>
            <a:pPr algn="ctr">
              <a:defRPr sz="1600">
                <a:solidFill>
                  <a:srgbClr val="EAE5DF"/>
                </a:solidFill>
                <a:latin typeface="Arial"/>
              </a:defRPr>
            </a:pPr>
            <a:r>
              <a:t>because it leverages existing investments while keeping each layer's cost optimal.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FE3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7DA812B8955164882EAE83179F6297D" ma:contentTypeVersion="3" ma:contentTypeDescription="Create a new document." ma:contentTypeScope="" ma:versionID="9bc26636b2439ebfc6d2105333f5318f">
  <xsd:schema xmlns:xsd="http://www.w3.org/2001/XMLSchema" xmlns:xs="http://www.w3.org/2001/XMLSchema" xmlns:p="http://schemas.microsoft.com/office/2006/metadata/properties" xmlns:ns2="705ffef0-566b-46b6-a84e-23e98272dd50" targetNamespace="http://schemas.microsoft.com/office/2006/metadata/properties" ma:root="true" ma:fieldsID="d4c8be2a9998439c7b37003c3847790f" ns2:_="">
    <xsd:import namespace="705ffef0-566b-46b6-a84e-23e98272dd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5ffef0-566b-46b6-a84e-23e98272dd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F45F676-7DB9-4BE3-B97D-B5DC569D70FB}">
  <ds:schemaRefs>
    <ds:schemaRef ds:uri="705ffef0-566b-46b6-a84e-23e98272dd5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12C7C58-8A9E-491E-9A58-6B1A604FCB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3A399B4-55F0-49BB-BB32-83E6AEFC1E99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705ffef0-566b-46b6-a84e-23e98272dd50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794</Words>
  <Application>Microsoft Office PowerPoint</Application>
  <PresentationFormat>Widescreen</PresentationFormat>
  <Paragraphs>133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Papanasam, Vasan S (Data Science AI and Analytics)</cp:lastModifiedBy>
  <cp:revision>2</cp:revision>
  <dcterms:created xsi:type="dcterms:W3CDTF">2013-01-27T09:14:16Z</dcterms:created>
  <dcterms:modified xsi:type="dcterms:W3CDTF">2026-03-23T16:15:58Z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12ec1e4-f08d-4db9-9ea3-a141370d52a9_Enabled">
    <vt:lpwstr>true</vt:lpwstr>
  </property>
  <property fmtid="{D5CDD505-2E9C-101B-9397-08002B2CF9AE}" pid="3" name="MSIP_Label_e12ec1e4-f08d-4db9-9ea3-a141370d52a9_SetDate">
    <vt:lpwstr>2026-03-20T18:02:50Z</vt:lpwstr>
  </property>
  <property fmtid="{D5CDD505-2E9C-101B-9397-08002B2CF9AE}" pid="4" name="MSIP_Label_e12ec1e4-f08d-4db9-9ea3-a141370d52a9_Method">
    <vt:lpwstr>Privileged</vt:lpwstr>
  </property>
  <property fmtid="{D5CDD505-2E9C-101B-9397-08002B2CF9AE}" pid="5" name="MSIP_Label_e12ec1e4-f08d-4db9-9ea3-a141370d52a9_Name">
    <vt:lpwstr>CC - Show Footer</vt:lpwstr>
  </property>
  <property fmtid="{D5CDD505-2E9C-101B-9397-08002B2CF9AE}" pid="6" name="MSIP_Label_e12ec1e4-f08d-4db9-9ea3-a141370d52a9_SiteId">
    <vt:lpwstr>a311fc62-83f4-45f0-9502-1bb2247d4c8d</vt:lpwstr>
  </property>
  <property fmtid="{D5CDD505-2E9C-101B-9397-08002B2CF9AE}" pid="7" name="MSIP_Label_e12ec1e4-f08d-4db9-9ea3-a141370d52a9_ActionId">
    <vt:lpwstr>cc4472d0-77b3-41a7-833c-8d5d012bd8f8</vt:lpwstr>
  </property>
  <property fmtid="{D5CDD505-2E9C-101B-9397-08002B2CF9AE}" pid="8" name="MSIP_Label_e12ec1e4-f08d-4db9-9ea3-a141370d52a9_ContentBits">
    <vt:lpwstr>2</vt:lpwstr>
  </property>
  <property fmtid="{D5CDD505-2E9C-101B-9397-08002B2CF9AE}" pid="9" name="MSIP_Label_e12ec1e4-f08d-4db9-9ea3-a141370d52a9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© 2026 The Hartford. Classification: Company Confidential. No part of this document may be reproduced, published, or used without the permission of The Hartford.</vt:lpwstr>
  </property>
  <property fmtid="{D5CDD505-2E9C-101B-9397-08002B2CF9AE}" pid="12" name="ContentTypeId">
    <vt:lpwstr>0x01010087DA812B8955164882EAE83179F6297D</vt:lpwstr>
  </property>
</Properties>
</file>