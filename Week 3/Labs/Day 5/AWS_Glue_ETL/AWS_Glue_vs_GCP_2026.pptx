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this morning the class built two Glue Visual ETL jobs hands on. This deck zooms out from that one screen to the entire Glue platform, then maps every capability onto Google Cloud. Remind students they will work in both clouds in this course, and employers increasingly expect literacy in both. Timebox: about 40 to 45 minutes with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the lab: students have concrete Glue Studio experience from this morning, use it as the anchor. The 1 vs 7 framing is the thesis of the whole deck: neither approach is better, they trade integration convenience against best-of-breed flexibility. Insurance context: Hartford teams often inherit multi-cloud estates through acquisitions, so translation skills are career 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quickly, then tell students which slides map to which objective: platform tour covers 1, the authoring spectrum covers 2, Part II covers 3 and 4, and takeaways cover 5. Objective 4 is the one most likely to appear in interviews: when do you pick Beam over Spark.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shared metadata layer: every Glue capability reads and writes the same regional Data Catalog, which is why the platform feels integrated. The DPU is the billing unit students met in the lab when they set 2 workers. FLEX runs on spare capacity for 34 percent less, good for non-urgent batch. Ask: which of these six boxes did you touch this morning? Answer: batch ETL only, and deliberately not the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DynamicFrame deserves the most attention: students saw it in the Custom Transform snippet today (toDF and fromDF). The self-describing record design is Glue's answer to schema drift, contrast with a Spark DataFrame that requires one schema for the whole dataset. Crawlers were deliberately skipped in the lab (we inferred schema straight from S3), mention they exist for catalog-first workflows. Workflows come back on the orchestration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pedagogical spine of Part I: one slide per mode follows. The axis runs from least to most code, and the right answer depends on persona and use case, not on prestige. Preempt the classic student assumption that real engineers only write code: real teams pick the cheapest abstraction that meets the requirement. Q sits above the spectrum because it can drive any of the four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every bullet to the morning lab: they used the canvas, the preview pane, and the generated script tab. The 2026 additions worth calling out live: single-file output solves the many-part-files surprise students saw in their silver bucket, and Q chat authoring means the canvas itself is now promptable. When to use: self-service pipelines, rapid prototyping, and teaching, exactly like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card on the right is the exam-worthy content: Data Preparation is dataset-centric cleansing for analysts, Visual ETL is pipeline construction. Target persona: people who know their data deeply but do not write code, think claims analysts. GCP has two answers to this same need, Wrangler in Data Fusion and BigQuery data preparation with Gemini, coming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discipline lives here: idle_timeout defaults to 48 hours, which is how teams accidentally burn budget, and stop_session kills billing immediately. The students met this billing model when data preview sessions ran during the lab. Spark Connect is the strategic 2026 item: write code locally in VS Code, execute on cloud-scale Spark, no special kernel. That pattern returns in Week 5 PySpark.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snippet top to bottom: read from catalog into a DynamicFrame, apply a Glue-native transform, write parquet to S3. Students saw this exact shape in the generated script tab today, the point is that hand-written scripts and Visual ETL output are the same artifact. Worker table: G.1X is the workhorse; the exotic sizes exist so wide joins and feature engineering do not require cluster tuning. Preview of Week 5: they will write PySpark like this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tension with our course rules: Weeks 1 to 4 are an AI-Free Zone precisely because tools like Q exist. The skill we are building is the judgment to evaluate what AI produces, which requires having done it manually first. In industry, the troubleshooting agent is arguably the highest-value piece: Spark stack traces are notoriously hostile, as the class saw during our own parquet debugging session. GCP counterpart is Gemini,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selected Glue 5.1 on the Job details tab this morning, this slide explains what they opted into. The version table teaches a general cloud lesson: managed runtimes pin an entire dependency stack, and upgrading a Glue version is upgrading Spark, Python, and table format libraries at once. Iceberg v3 highlights signal where the industry is heading; deletion vectors make merge-on-read practical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breath each: streaming reuses everything students learned today but never stops running. Data quality will get its own treatment later in the course; the memorable bit is that ML watches column statistics over time and drafts rules. Zero-ETL is AWS competing with Fivetran: replication as configuration, not pipelines. Schema Registry is free and underused. If time is short this slide can be 90 seconds without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the admin setup of today's lab: the class used one IAM role and bucket policies, which is coarse-grained IAM security. Lake Formation is what you add when you need row and column rules, think masking claim amounts by department. The federation card is the strategic story: catalogs are becoming interoperable through the Iceberg REST spec, so the moat is shifting from storage to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slide of the deck. Neither philosophy wins outright: the AWS umbrella means less integration work but a single vendor abstraction; the GCP portfolio means each piece is often stronger standalone but architecture is your job. Interview framing: a good candidate can argue both sides and pick based on team maturity, existing estate, and workload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slide students will screenshot, give them a moment. Walk two or three rows only: visual ETL maps to Data Fusion, code Spark maps to Managed Spark, and the interesting outlier is Dataflow, which has no Glue equivalent because AWS has no Beam service. Point out that GCP splits by workload shape while AWS splits by authoring mode. The next three slides spotlight the biggest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Closest GCP analogue to what students did this morning: canvas, nodes, preview. Two honest differentiators: the CDAP open-source core means pipelines can leave Google, which Glue jobs cannot easily do; but the instance-based pricing means an idle Data Fusion instance still costs money, a genuine trap. If a team is BigQuery-first and SQL-heavy, they often skip Data Fusion entirely and use Dataform, next spotlight but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decision table answers objective 4 and is a genuine interview question. The clean heuristic: migrating existing Spark or Hadoop, take Managed Spark; building new, especially streaming, take Dataflow because Beam removes the batch-versus-streaming code split entirely. Mention the 2026 Dataflow innovations briefly: liquid sharding handles skew automatically and heterogeneous pools let an ML inference stage run on TPUs mid-pipeline. AWS has no Beam equivalent; that row of the map is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Datastream versus Glue Zero-ETL is a fair fight: Datastream is more mature for heterogeneous database CDC, Zero-ETL covers more SaaS sources. Dataform will feel familiar after our dbt discussions later in the course; SQLX assertions echo the data quality gates from slide 13. Knowledge Catalog is the governance counterpart to Glue Catalog plus Lake Formation, with stronger lineage and glossary tooling out of the box. BigQuery Pipelines shows Google folding everything into the warehouse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recall exercise rather than a lecture: cover the right two columns and ask students to fill rows in from memory. The two asymmetries worth naming: AWS has no Beam service, and Google has no single umbrella product. Everything else is a near-mirror. This table plus slide 16 are the takeaway artifacts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takeaway 6, it is the course thesis: today students built pipelines without code in the morning and this deck showed AI writing pipelines from prompts, yet the debugging that made the lab work required understanding parquet internals. Tools raise the floor; fundamentals raise the ceiling. Segue to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discussion prompt makes a good exit-ticket or pair discussion if 10 minutes remain: expected answers include Data Fusion or Dataform for the ETL, Datastream for replication, Knowledge Catalog for governance, and the breakage list should include IAM model differences and the loss of DynamicFrames. Point students to the source comparison guide for the pricing tables and version matrices this deck deliberately compressed.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3383280" y="822960"/>
            <a:ext cx="914400" cy="914400"/>
          </a:xfrm>
          <a:prstGeom prst="ellipse">
            <a:avLst/>
          </a:prstGeom>
          <a:solidFill>
            <a:srgbClr val="D97706"/>
          </a:solidFill>
          <a:ln/>
        </p:spPr>
      </p:sp>
      <p:pic>
        <p:nvPicPr>
          <p:cNvPr id="3" name="Image 0" descr="preencoded.png">    </p:cNvPr>
          <p:cNvPicPr>
            <a:picLocks noChangeAspect="1"/>
          </p:cNvPicPr>
          <p:nvPr/>
        </p:nvPicPr>
        <p:blipFill>
          <a:blip r:embed="rId1"/>
          <a:stretch>
            <a:fillRect/>
          </a:stretch>
        </p:blipFill>
        <p:spPr>
          <a:xfrm>
            <a:off x="3621024" y="1060704"/>
            <a:ext cx="438912" cy="438912"/>
          </a:xfrm>
          <a:prstGeom prst="rect">
            <a:avLst/>
          </a:prstGeom>
        </p:spPr>
      </p:pic>
      <p:sp>
        <p:nvSpPr>
          <p:cNvPr id="4" name="Shape 1"/>
          <p:cNvSpPr/>
          <p:nvPr/>
        </p:nvSpPr>
        <p:spPr>
          <a:xfrm>
            <a:off x="4846320" y="822960"/>
            <a:ext cx="914400" cy="914400"/>
          </a:xfrm>
          <a:prstGeom prst="ellipse">
            <a:avLst/>
          </a:prstGeom>
          <a:solidFill>
            <a:srgbClr val="3E74D6"/>
          </a:solidFill>
          <a:ln/>
        </p:spPr>
      </p:sp>
      <p:pic>
        <p:nvPicPr>
          <p:cNvPr id="5" name="Image 1" descr="preencoded.png">    </p:cNvPr>
          <p:cNvPicPr>
            <a:picLocks noChangeAspect="1"/>
          </p:cNvPicPr>
          <p:nvPr/>
        </p:nvPicPr>
        <p:blipFill>
          <a:blip r:embed="rId2"/>
          <a:stretch>
            <a:fillRect/>
          </a:stretch>
        </p:blipFill>
        <p:spPr>
          <a:xfrm>
            <a:off x="5084064" y="1060704"/>
            <a:ext cx="438912" cy="438912"/>
          </a:xfrm>
          <a:prstGeom prst="rect">
            <a:avLst/>
          </a:prstGeom>
        </p:spPr>
      </p:pic>
      <p:sp>
        <p:nvSpPr>
          <p:cNvPr id="6" name="Text 2"/>
          <p:cNvSpPr/>
          <p:nvPr/>
        </p:nvSpPr>
        <p:spPr>
          <a:xfrm>
            <a:off x="548640" y="2057400"/>
            <a:ext cx="8046720" cy="685800"/>
          </a:xfrm>
          <a:prstGeom prst="rect">
            <a:avLst/>
          </a:prstGeom>
          <a:noFill/>
          <a:ln/>
        </p:spPr>
        <p:txBody>
          <a:bodyPr wrap="square" rtlCol="0" anchor="ctr"/>
          <a:lstStyle/>
          <a:p>
            <a:pPr algn="ctr" indent="0" marL="0">
              <a:buNone/>
            </a:pPr>
            <a:r>
              <a:rPr lang="en-US" sz="3300" b="1" dirty="0">
                <a:solidFill>
                  <a:srgbClr val="FFFFFF"/>
                </a:solidFill>
                <a:latin typeface="Calibri" pitchFamily="34" charset="0"/>
                <a:ea typeface="Calibri" pitchFamily="34" charset="-122"/>
                <a:cs typeface="Calibri" pitchFamily="34" charset="-120"/>
              </a:rPr>
              <a:t>AWS Glue and Google Cloud Equivalents</a:t>
            </a:r>
            <a:endParaRPr lang="en-US" sz="3300" dirty="0"/>
          </a:p>
        </p:txBody>
      </p:sp>
      <p:sp>
        <p:nvSpPr>
          <p:cNvPr id="7" name="Text 3"/>
          <p:cNvSpPr/>
          <p:nvPr/>
        </p:nvSpPr>
        <p:spPr>
          <a:xfrm>
            <a:off x="548640" y="2788920"/>
            <a:ext cx="8046720" cy="41148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The 2026 data integration landscape, side by side</a:t>
            </a:r>
            <a:endParaRPr lang="en-US" sz="1600" dirty="0"/>
          </a:p>
        </p:txBody>
      </p:sp>
      <p:sp>
        <p:nvSpPr>
          <p:cNvPr id="8" name="Text 4"/>
          <p:cNvSpPr/>
          <p:nvPr/>
        </p:nvSpPr>
        <p:spPr>
          <a:xfrm>
            <a:off x="548640" y="4251960"/>
            <a:ext cx="8046720" cy="320040"/>
          </a:xfrm>
          <a:prstGeom prst="rect">
            <a:avLst/>
          </a:prstGeom>
          <a:noFill/>
          <a:ln/>
        </p:spPr>
        <p:txBody>
          <a:bodyPr wrap="square" rtlCol="0" anchor="ctr"/>
          <a:lstStyle/>
          <a:p>
            <a:pPr algn="ctr" indent="0" marL="0">
              <a:buNone/>
            </a:pPr>
            <a:r>
              <a:rPr lang="en-US" sz="1100" dirty="0">
                <a:solidFill>
                  <a:srgbClr val="8FA3C8"/>
                </a:solidFill>
                <a:latin typeface="Calibri" pitchFamily="34" charset="0"/>
                <a:ea typeface="Calibri" pitchFamily="34" charset="-122"/>
                <a:cs typeface="Calibri" pitchFamily="34" charset="-120"/>
              </a:rPr>
              <a:t>TechCatalyst Data Engineering 2026  |  Week 3 Day 5  |  AWS Glue ETL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CONTEXT</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Why this comparison matters</a:t>
            </a:r>
            <a:endParaRPr lang="en-US" sz="2500" dirty="0"/>
          </a:p>
        </p:txBody>
      </p:sp>
      <p:sp>
        <p:nvSpPr>
          <p:cNvPr id="4" name="Text 2"/>
          <p:cNvSpPr/>
          <p:nvPr/>
        </p:nvSpPr>
        <p:spPr>
          <a:xfrm>
            <a:off x="457200" y="1234440"/>
            <a:ext cx="5120640" cy="3291840"/>
          </a:xfrm>
          <a:prstGeom prst="rect">
            <a:avLst/>
          </a:prstGeom>
          <a:noFill/>
          <a:ln/>
        </p:spPr>
        <p:txBody>
          <a:bodyPr wrap="square" rtlCol="0" anchor="t"/>
          <a:lstStyle/>
          <a:p>
            <a:pPr marL="152400" indent="-152400">
              <a:spcAft>
                <a:spcPts val="1400"/>
              </a:spcAft>
              <a:buSzPct val="100000"/>
              <a:buChar char="•"/>
            </a:pPr>
            <a:r>
              <a:rPr lang="en-US" sz="1300" dirty="0">
                <a:solidFill>
                  <a:srgbClr val="33415C"/>
                </a:solidFill>
                <a:latin typeface="Calibri" pitchFamily="34" charset="0"/>
                <a:ea typeface="Calibri" pitchFamily="34" charset="-122"/>
                <a:cs typeface="Calibri" pitchFamily="34" charset="-120"/>
              </a:rPr>
              <a:t>You just built two Glue Visual ETL jobs. Now we zoom out to the whole platform.</a:t>
            </a:r>
            <a:endParaRPr lang="en-US" sz="1300" dirty="0"/>
          </a:p>
          <a:p>
            <a:pPr marL="152400" indent="-152400">
              <a:spcAft>
                <a:spcPts val="1400"/>
              </a:spcAft>
              <a:buSzPct val="100000"/>
              <a:buChar char="•"/>
            </a:pPr>
            <a:r>
              <a:rPr lang="en-US" sz="1300" dirty="0">
                <a:solidFill>
                  <a:srgbClr val="33415C"/>
                </a:solidFill>
                <a:latin typeface="Calibri" pitchFamily="34" charset="0"/>
                <a:ea typeface="Calibri" pitchFamily="34" charset="-122"/>
                <a:cs typeface="Calibri" pitchFamily="34" charset="-120"/>
              </a:rPr>
              <a:t>AWS packages data integration as one product. Google Cloud spreads it across a portfolio.</a:t>
            </a:r>
            <a:endParaRPr lang="en-US" sz="1300" dirty="0"/>
          </a:p>
          <a:p>
            <a:pPr marL="152400" indent="-152400">
              <a:spcAft>
                <a:spcPts val="1400"/>
              </a:spcAft>
              <a:buSzPct val="100000"/>
              <a:buChar char="•"/>
            </a:pPr>
            <a:r>
              <a:rPr lang="en-US" sz="1300" dirty="0">
                <a:solidFill>
                  <a:srgbClr val="33415C"/>
                </a:solidFill>
                <a:latin typeface="Calibri" pitchFamily="34" charset="0"/>
                <a:ea typeface="Calibri" pitchFamily="34" charset="-122"/>
                <a:cs typeface="Calibri" pitchFamily="34" charset="-120"/>
              </a:rPr>
              <a:t>Same capabilities, different packaging: the architecture skill is knowing what maps to what.</a:t>
            </a:r>
            <a:endParaRPr lang="en-US" sz="1300" dirty="0"/>
          </a:p>
          <a:p>
            <a:pPr marL="152400" indent="-152400">
              <a:spcAft>
                <a:spcPts val="1400"/>
              </a:spcAft>
              <a:buSzPct val="100000"/>
              <a:buChar char="•"/>
            </a:pPr>
            <a:r>
              <a:rPr lang="en-US" sz="1300" dirty="0">
                <a:solidFill>
                  <a:srgbClr val="33415C"/>
                </a:solidFill>
                <a:latin typeface="Calibri" pitchFamily="34" charset="0"/>
                <a:ea typeface="Calibri" pitchFamily="34" charset="-122"/>
                <a:cs typeface="Calibri" pitchFamily="34" charset="-120"/>
              </a:rPr>
              <a:t>Picking the right abstraction level, from no-code to full code, is a design decision, not a default.</a:t>
            </a:r>
            <a:endParaRPr lang="en-US" sz="1300" dirty="0"/>
          </a:p>
        </p:txBody>
      </p:sp>
      <p:sp>
        <p:nvSpPr>
          <p:cNvPr id="5" name="Shape 3"/>
          <p:cNvSpPr/>
          <p:nvPr/>
        </p:nvSpPr>
        <p:spPr>
          <a:xfrm>
            <a:off x="5943600" y="1371600"/>
            <a:ext cx="2743200" cy="3017520"/>
          </a:xfrm>
          <a:prstGeom prst="roundRect">
            <a:avLst>
              <a:gd name="adj" fmla="val 2333"/>
            </a:avLst>
          </a:prstGeom>
          <a:solidFill>
            <a:srgbClr val="F4F6FA"/>
          </a:solidFill>
          <a:ln/>
          <a:effectLst>
            <a:outerShdw sx="100000" sy="100000" kx="0" ky="0" algn="bl" rotWithShape="0" blurRad="76200" dist="25400" dir="2700000">
              <a:srgbClr val="000000">
                <a:alpha val="14000"/>
              </a:srgbClr>
            </a:outerShdw>
          </a:effectLst>
        </p:spPr>
      </p:sp>
      <p:sp>
        <p:nvSpPr>
          <p:cNvPr id="6" name="Text 4"/>
          <p:cNvSpPr/>
          <p:nvPr/>
        </p:nvSpPr>
        <p:spPr>
          <a:xfrm>
            <a:off x="5943600" y="1600200"/>
            <a:ext cx="2743200" cy="822960"/>
          </a:xfrm>
          <a:prstGeom prst="rect">
            <a:avLst/>
          </a:prstGeom>
          <a:noFill/>
          <a:ln/>
        </p:spPr>
        <p:txBody>
          <a:bodyPr wrap="square" rtlCol="0" anchor="ctr"/>
          <a:lstStyle/>
          <a:p>
            <a:pPr algn="ctr" indent="0" marL="0">
              <a:buNone/>
            </a:pPr>
            <a:r>
              <a:rPr lang="en-US" sz="6000" b="1" dirty="0">
                <a:solidFill>
                  <a:srgbClr val="D97706"/>
                </a:solidFill>
                <a:latin typeface="Calibri" pitchFamily="34" charset="0"/>
                <a:ea typeface="Calibri" pitchFamily="34" charset="-122"/>
                <a:cs typeface="Calibri" pitchFamily="34" charset="-120"/>
              </a:rPr>
              <a:t>1</a:t>
            </a:r>
            <a:endParaRPr lang="en-US" sz="6000" dirty="0"/>
          </a:p>
        </p:txBody>
      </p:sp>
      <p:sp>
        <p:nvSpPr>
          <p:cNvPr id="7" name="Text 5"/>
          <p:cNvSpPr/>
          <p:nvPr/>
        </p:nvSpPr>
        <p:spPr>
          <a:xfrm>
            <a:off x="6035040" y="2395728"/>
            <a:ext cx="2560320"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integrated AWS service</a:t>
            </a:r>
            <a:endParaRPr lang="en-US" sz="1100" dirty="0"/>
          </a:p>
        </p:txBody>
      </p:sp>
      <p:sp>
        <p:nvSpPr>
          <p:cNvPr id="8" name="Text 6"/>
          <p:cNvSpPr/>
          <p:nvPr/>
        </p:nvSpPr>
        <p:spPr>
          <a:xfrm>
            <a:off x="5943600" y="2743200"/>
            <a:ext cx="2743200" cy="685800"/>
          </a:xfrm>
          <a:prstGeom prst="rect">
            <a:avLst/>
          </a:prstGeom>
          <a:noFill/>
          <a:ln/>
        </p:spPr>
        <p:txBody>
          <a:bodyPr wrap="square" rtlCol="0" anchor="ctr"/>
          <a:lstStyle/>
          <a:p>
            <a:pPr algn="ctr" indent="0" marL="0">
              <a:buNone/>
            </a:pPr>
            <a:r>
              <a:rPr lang="en-US" sz="4400" b="1" dirty="0">
                <a:solidFill>
                  <a:srgbClr val="3E74D6"/>
                </a:solidFill>
                <a:latin typeface="Calibri" pitchFamily="34" charset="0"/>
                <a:ea typeface="Calibri" pitchFamily="34" charset="-122"/>
                <a:cs typeface="Calibri" pitchFamily="34" charset="-120"/>
              </a:rPr>
              <a:t>vs 7+</a:t>
            </a:r>
            <a:endParaRPr lang="en-US" sz="4400" dirty="0"/>
          </a:p>
        </p:txBody>
      </p:sp>
      <p:sp>
        <p:nvSpPr>
          <p:cNvPr id="9" name="Text 7"/>
          <p:cNvSpPr/>
          <p:nvPr/>
        </p:nvSpPr>
        <p:spPr>
          <a:xfrm>
            <a:off x="6035040" y="3429000"/>
            <a:ext cx="2560320" cy="4572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purpose-built GCP services</a:t>
            </a:r>
            <a:endParaRPr lang="en-US" sz="1100" dirty="0"/>
          </a:p>
        </p:txBody>
      </p:sp>
      <p:sp>
        <p:nvSpPr>
          <p:cNvPr id="11" name="Text 8"/>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LEARNING OBJECTIVES</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What you will be able to do</a:t>
            </a:r>
            <a:endParaRPr lang="en-US" sz="2500" dirty="0"/>
          </a:p>
        </p:txBody>
      </p:sp>
      <p:sp>
        <p:nvSpPr>
          <p:cNvPr id="4" name="Shape 2"/>
          <p:cNvSpPr/>
          <p:nvPr/>
        </p:nvSpPr>
        <p:spPr>
          <a:xfrm>
            <a:off x="502920" y="1325880"/>
            <a:ext cx="384048" cy="384048"/>
          </a:xfrm>
          <a:prstGeom prst="ellipse">
            <a:avLst/>
          </a:prstGeom>
          <a:solidFill>
            <a:srgbClr val="D97706"/>
          </a:solidFill>
          <a:ln/>
        </p:spPr>
      </p:sp>
      <p:sp>
        <p:nvSpPr>
          <p:cNvPr id="5"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097280" y="1280160"/>
            <a:ext cx="7589520" cy="502920"/>
          </a:xfrm>
          <a:prstGeom prst="rect">
            <a:avLst/>
          </a:prstGeom>
          <a:noFill/>
          <a:ln/>
        </p:spPr>
        <p:txBody>
          <a:bodyPr wrap="square" lIns="0" tIns="0" rIns="0" bIns="0" rtlCol="0" anchor="ctr"/>
          <a:lstStyle/>
          <a:p>
            <a:pPr indent="0" marL="0">
              <a:buNone/>
            </a:pPr>
            <a:r>
              <a:rPr lang="en-US" sz="1300" dirty="0">
                <a:solidFill>
                  <a:srgbClr val="33415C"/>
                </a:solidFill>
                <a:latin typeface="Calibri" pitchFamily="34" charset="0"/>
                <a:ea typeface="Calibri" pitchFamily="34" charset="-122"/>
                <a:cs typeface="Calibri" pitchFamily="34" charset="-120"/>
              </a:rPr>
              <a:t>Describe the major AWS Glue components and the 2026 runtime (Glue 5.1, Spark 3.5.6).</a:t>
            </a:r>
            <a:endParaRPr lang="en-US" sz="1300" dirty="0"/>
          </a:p>
        </p:txBody>
      </p:sp>
      <p:sp>
        <p:nvSpPr>
          <p:cNvPr id="7" name="Shape 5"/>
          <p:cNvSpPr/>
          <p:nvPr/>
        </p:nvSpPr>
        <p:spPr>
          <a:xfrm>
            <a:off x="502920" y="2020824"/>
            <a:ext cx="384048" cy="384048"/>
          </a:xfrm>
          <a:prstGeom prst="ellipse">
            <a:avLst/>
          </a:prstGeom>
          <a:solidFill>
            <a:srgbClr val="3E74D6"/>
          </a:solidFill>
          <a:ln/>
        </p:spPr>
      </p:sp>
      <p:sp>
        <p:nvSpPr>
          <p:cNvPr id="8" name="Text 6"/>
          <p:cNvSpPr/>
          <p:nvPr/>
        </p:nvSpPr>
        <p:spPr>
          <a:xfrm>
            <a:off x="502920" y="20208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097280" y="1975104"/>
            <a:ext cx="7589520" cy="502920"/>
          </a:xfrm>
          <a:prstGeom prst="rect">
            <a:avLst/>
          </a:prstGeom>
          <a:noFill/>
          <a:ln/>
        </p:spPr>
        <p:txBody>
          <a:bodyPr wrap="square" lIns="0" tIns="0" rIns="0" bIns="0" rtlCol="0" anchor="ctr"/>
          <a:lstStyle/>
          <a:p>
            <a:pPr indent="0" marL="0">
              <a:buNone/>
            </a:pPr>
            <a:r>
              <a:rPr lang="en-US" sz="1300" dirty="0">
                <a:solidFill>
                  <a:srgbClr val="33415C"/>
                </a:solidFill>
                <a:latin typeface="Calibri" pitchFamily="34" charset="0"/>
                <a:ea typeface="Calibri" pitchFamily="34" charset="-122"/>
                <a:cs typeface="Calibri" pitchFamily="34" charset="-120"/>
              </a:rPr>
              <a:t>Compare the five Glue authoring modes and choose the right one for a given persona.</a:t>
            </a:r>
            <a:endParaRPr lang="en-US" sz="1300" dirty="0"/>
          </a:p>
        </p:txBody>
      </p:sp>
      <p:sp>
        <p:nvSpPr>
          <p:cNvPr id="10" name="Shape 8"/>
          <p:cNvSpPr/>
          <p:nvPr/>
        </p:nvSpPr>
        <p:spPr>
          <a:xfrm>
            <a:off x="502920" y="2715768"/>
            <a:ext cx="384048" cy="384048"/>
          </a:xfrm>
          <a:prstGeom prst="ellipse">
            <a:avLst/>
          </a:prstGeom>
          <a:solidFill>
            <a:srgbClr val="D97706"/>
          </a:solidFill>
          <a:ln/>
        </p:spPr>
      </p:sp>
      <p:sp>
        <p:nvSpPr>
          <p:cNvPr id="11" name="Text 9"/>
          <p:cNvSpPr/>
          <p:nvPr/>
        </p:nvSpPr>
        <p:spPr>
          <a:xfrm>
            <a:off x="502920" y="2715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097280" y="2670048"/>
            <a:ext cx="7589520" cy="502920"/>
          </a:xfrm>
          <a:prstGeom prst="rect">
            <a:avLst/>
          </a:prstGeom>
          <a:noFill/>
          <a:ln/>
        </p:spPr>
        <p:txBody>
          <a:bodyPr wrap="square" lIns="0" tIns="0" rIns="0" bIns="0" rtlCol="0" anchor="ctr"/>
          <a:lstStyle/>
          <a:p>
            <a:pPr indent="0" marL="0">
              <a:buNone/>
            </a:pPr>
            <a:r>
              <a:rPr lang="en-US" sz="1300" dirty="0">
                <a:solidFill>
                  <a:srgbClr val="33415C"/>
                </a:solidFill>
                <a:latin typeface="Calibri" pitchFamily="34" charset="0"/>
                <a:ea typeface="Calibri" pitchFamily="34" charset="-122"/>
                <a:cs typeface="Calibri" pitchFamily="34" charset="-120"/>
              </a:rPr>
              <a:t>Map each Glue capability to its Google Cloud equivalent service.</a:t>
            </a:r>
            <a:endParaRPr lang="en-US" sz="1300" dirty="0"/>
          </a:p>
        </p:txBody>
      </p:sp>
      <p:sp>
        <p:nvSpPr>
          <p:cNvPr id="13" name="Shape 11"/>
          <p:cNvSpPr/>
          <p:nvPr/>
        </p:nvSpPr>
        <p:spPr>
          <a:xfrm>
            <a:off x="502920" y="3410712"/>
            <a:ext cx="384048" cy="384048"/>
          </a:xfrm>
          <a:prstGeom prst="ellipse">
            <a:avLst/>
          </a:prstGeom>
          <a:solidFill>
            <a:srgbClr val="3E74D6"/>
          </a:solidFill>
          <a:ln/>
        </p:spPr>
      </p:sp>
      <p:sp>
        <p:nvSpPr>
          <p:cNvPr id="14" name="Text 12"/>
          <p:cNvSpPr/>
          <p:nvPr/>
        </p:nvSpPr>
        <p:spPr>
          <a:xfrm>
            <a:off x="502920" y="34107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097280" y="3364992"/>
            <a:ext cx="7589520" cy="502920"/>
          </a:xfrm>
          <a:prstGeom prst="rect">
            <a:avLst/>
          </a:prstGeom>
          <a:noFill/>
          <a:ln/>
        </p:spPr>
        <p:txBody>
          <a:bodyPr wrap="square" lIns="0" tIns="0" rIns="0" bIns="0" rtlCol="0" anchor="ctr"/>
          <a:lstStyle/>
          <a:p>
            <a:pPr indent="0" marL="0">
              <a:buNone/>
            </a:pPr>
            <a:r>
              <a:rPr lang="en-US" sz="1300" dirty="0">
                <a:solidFill>
                  <a:srgbClr val="33415C"/>
                </a:solidFill>
                <a:latin typeface="Calibri" pitchFamily="34" charset="0"/>
                <a:ea typeface="Calibri" pitchFamily="34" charset="-122"/>
                <a:cs typeface="Calibri" pitchFamily="34" charset="-120"/>
              </a:rPr>
              <a:t>Decide between Cloud Dataflow and Managed Service for Apache Spark for a workload.</a:t>
            </a:r>
            <a:endParaRPr lang="en-US" sz="1300" dirty="0"/>
          </a:p>
        </p:txBody>
      </p:sp>
      <p:sp>
        <p:nvSpPr>
          <p:cNvPr id="16" name="Shape 14"/>
          <p:cNvSpPr/>
          <p:nvPr/>
        </p:nvSpPr>
        <p:spPr>
          <a:xfrm>
            <a:off x="502920" y="4105656"/>
            <a:ext cx="384048" cy="384048"/>
          </a:xfrm>
          <a:prstGeom prst="ellipse">
            <a:avLst/>
          </a:prstGeom>
          <a:solidFill>
            <a:srgbClr val="D97706"/>
          </a:solidFill>
          <a:ln/>
        </p:spPr>
      </p:sp>
      <p:sp>
        <p:nvSpPr>
          <p:cNvPr id="17" name="Text 15"/>
          <p:cNvSpPr/>
          <p:nvPr/>
        </p:nvSpPr>
        <p:spPr>
          <a:xfrm>
            <a:off x="502920" y="41056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1097280" y="4059936"/>
            <a:ext cx="7589520" cy="502920"/>
          </a:xfrm>
          <a:prstGeom prst="rect">
            <a:avLst/>
          </a:prstGeom>
          <a:noFill/>
          <a:ln/>
        </p:spPr>
        <p:txBody>
          <a:bodyPr wrap="square" lIns="0" tIns="0" rIns="0" bIns="0" rtlCol="0" anchor="ctr"/>
          <a:lstStyle/>
          <a:p>
            <a:pPr indent="0" marL="0">
              <a:buNone/>
            </a:pPr>
            <a:r>
              <a:rPr lang="en-US" sz="1300" dirty="0">
                <a:solidFill>
                  <a:srgbClr val="33415C"/>
                </a:solidFill>
                <a:latin typeface="Calibri" pitchFamily="34" charset="0"/>
                <a:ea typeface="Calibri" pitchFamily="34" charset="-122"/>
                <a:cs typeface="Calibri" pitchFamily="34" charset="-120"/>
              </a:rPr>
              <a:t>Explain why Apache Iceberg and generative AI are reshaping both platforms.</a:t>
            </a:r>
            <a:endParaRPr lang="en-US" sz="1300" dirty="0"/>
          </a:p>
        </p:txBody>
      </p:sp>
      <p:sp>
        <p:nvSpPr>
          <p:cNvPr id="20" name="Text 17"/>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PART I: AWS GLUE</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Glue is a platform, not a single tool</a:t>
            </a:r>
            <a:endParaRPr lang="en-US" sz="2500" dirty="0"/>
          </a:p>
        </p:txBody>
      </p:sp>
      <p:sp>
        <p:nvSpPr>
          <p:cNvPr id="4" name="Shape 2"/>
          <p:cNvSpPr/>
          <p:nvPr/>
        </p:nvSpPr>
        <p:spPr>
          <a:xfrm>
            <a:off x="457200" y="1234440"/>
            <a:ext cx="2651760" cy="1188720"/>
          </a:xfrm>
          <a:prstGeom prst="roundRect">
            <a:avLst>
              <a:gd name="adj" fmla="val 5385"/>
            </a:avLst>
          </a:prstGeom>
          <a:solidFill>
            <a:srgbClr val="F4F6FA"/>
          </a:solidFill>
          <a:ln/>
          <a:effectLst>
            <a:outerShdw sx="100000" sy="100000" kx="0" ky="0" algn="bl" rotWithShape="0" blurRad="76200" dist="25400" dir="2700000">
              <a:srgbClr val="000000">
                <a:alpha val="14000"/>
              </a:srgbClr>
            </a:outerShdw>
          </a:effectLst>
        </p:spPr>
      </p:sp>
      <p:sp>
        <p:nvSpPr>
          <p:cNvPr id="5" name="Shape 3"/>
          <p:cNvSpPr/>
          <p:nvPr/>
        </p:nvSpPr>
        <p:spPr>
          <a:xfrm>
            <a:off x="621792" y="1399032"/>
            <a:ext cx="457200" cy="45720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740664" y="1517904"/>
            <a:ext cx="219456" cy="219456"/>
          </a:xfrm>
          <a:prstGeom prst="rect">
            <a:avLst/>
          </a:prstGeom>
        </p:spPr>
      </p:pic>
      <p:sp>
        <p:nvSpPr>
          <p:cNvPr id="7" name="Text 4"/>
          <p:cNvSpPr/>
          <p:nvPr/>
        </p:nvSpPr>
        <p:spPr>
          <a:xfrm>
            <a:off x="1188720" y="1362456"/>
            <a:ext cx="182880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Data Catalog</a:t>
            </a:r>
            <a:endParaRPr lang="en-US" sz="1250" dirty="0"/>
          </a:p>
        </p:txBody>
      </p:sp>
      <p:sp>
        <p:nvSpPr>
          <p:cNvPr id="8" name="Text 5"/>
          <p:cNvSpPr/>
          <p:nvPr/>
        </p:nvSpPr>
        <p:spPr>
          <a:xfrm>
            <a:off x="1188720" y="1645920"/>
            <a:ext cx="1828800" cy="6858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Regional metadata store shared by all engines</a:t>
            </a:r>
            <a:endParaRPr lang="en-US" sz="950" dirty="0"/>
          </a:p>
        </p:txBody>
      </p:sp>
      <p:sp>
        <p:nvSpPr>
          <p:cNvPr id="9" name="Shape 6"/>
          <p:cNvSpPr/>
          <p:nvPr/>
        </p:nvSpPr>
        <p:spPr>
          <a:xfrm>
            <a:off x="3291840" y="1234440"/>
            <a:ext cx="2651760" cy="1188720"/>
          </a:xfrm>
          <a:prstGeom prst="roundRect">
            <a:avLst>
              <a:gd name="adj" fmla="val 5385"/>
            </a:avLst>
          </a:prstGeom>
          <a:solidFill>
            <a:srgbClr val="F4F6FA"/>
          </a:solidFill>
          <a:ln/>
          <a:effectLst>
            <a:outerShdw sx="100000" sy="100000" kx="0" ky="0" algn="bl" rotWithShape="0" blurRad="76200" dist="25400" dir="2700000">
              <a:srgbClr val="000000">
                <a:alpha val="14000"/>
              </a:srgbClr>
            </a:outerShdw>
          </a:effectLst>
        </p:spPr>
      </p:sp>
      <p:sp>
        <p:nvSpPr>
          <p:cNvPr id="10" name="Shape 7"/>
          <p:cNvSpPr/>
          <p:nvPr/>
        </p:nvSpPr>
        <p:spPr>
          <a:xfrm>
            <a:off x="3456432" y="1399032"/>
            <a:ext cx="457200" cy="45720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3575304" y="1517904"/>
            <a:ext cx="219456" cy="219456"/>
          </a:xfrm>
          <a:prstGeom prst="rect">
            <a:avLst/>
          </a:prstGeom>
        </p:spPr>
      </p:pic>
      <p:sp>
        <p:nvSpPr>
          <p:cNvPr id="12" name="Text 8"/>
          <p:cNvSpPr/>
          <p:nvPr/>
        </p:nvSpPr>
        <p:spPr>
          <a:xfrm>
            <a:off x="4023360" y="1362456"/>
            <a:ext cx="182880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Batch ETL</a:t>
            </a:r>
            <a:endParaRPr lang="en-US" sz="1250" dirty="0"/>
          </a:p>
        </p:txBody>
      </p:sp>
      <p:sp>
        <p:nvSpPr>
          <p:cNvPr id="13" name="Text 9"/>
          <p:cNvSpPr/>
          <p:nvPr/>
        </p:nvSpPr>
        <p:spPr>
          <a:xfrm>
            <a:off x="4023360" y="1645920"/>
            <a:ext cx="1828800" cy="6858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Serverless Spark jobs, visual or code</a:t>
            </a:r>
            <a:endParaRPr lang="en-US" sz="950" dirty="0"/>
          </a:p>
        </p:txBody>
      </p:sp>
      <p:sp>
        <p:nvSpPr>
          <p:cNvPr id="14" name="Shape 10"/>
          <p:cNvSpPr/>
          <p:nvPr/>
        </p:nvSpPr>
        <p:spPr>
          <a:xfrm>
            <a:off x="6126480" y="1234440"/>
            <a:ext cx="2651760" cy="1188720"/>
          </a:xfrm>
          <a:prstGeom prst="roundRect">
            <a:avLst>
              <a:gd name="adj" fmla="val 5385"/>
            </a:avLst>
          </a:prstGeom>
          <a:solidFill>
            <a:srgbClr val="F4F6FA"/>
          </a:solidFill>
          <a:ln/>
          <a:effectLst>
            <a:outerShdw sx="100000" sy="100000" kx="0" ky="0" algn="bl" rotWithShape="0" blurRad="76200" dist="25400" dir="2700000">
              <a:srgbClr val="000000">
                <a:alpha val="14000"/>
              </a:srgbClr>
            </a:outerShdw>
          </a:effectLst>
        </p:spPr>
      </p:sp>
      <p:sp>
        <p:nvSpPr>
          <p:cNvPr id="15" name="Shape 11"/>
          <p:cNvSpPr/>
          <p:nvPr/>
        </p:nvSpPr>
        <p:spPr>
          <a:xfrm>
            <a:off x="6291072" y="1399032"/>
            <a:ext cx="457200" cy="45720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6409944" y="1517904"/>
            <a:ext cx="219456" cy="219456"/>
          </a:xfrm>
          <a:prstGeom prst="rect">
            <a:avLst/>
          </a:prstGeom>
        </p:spPr>
      </p:pic>
      <p:sp>
        <p:nvSpPr>
          <p:cNvPr id="17" name="Text 12"/>
          <p:cNvSpPr/>
          <p:nvPr/>
        </p:nvSpPr>
        <p:spPr>
          <a:xfrm>
            <a:off x="6858000" y="1362456"/>
            <a:ext cx="182880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Streaming ETL</a:t>
            </a:r>
            <a:endParaRPr lang="en-US" sz="1250" dirty="0"/>
          </a:p>
        </p:txBody>
      </p:sp>
      <p:sp>
        <p:nvSpPr>
          <p:cNvPr id="18" name="Text 13"/>
          <p:cNvSpPr/>
          <p:nvPr/>
        </p:nvSpPr>
        <p:spPr>
          <a:xfrm>
            <a:off x="6858000" y="1645920"/>
            <a:ext cx="1828800" cy="6858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Kinesis, Kafka, MSK with micro-batches</a:t>
            </a:r>
            <a:endParaRPr lang="en-US" sz="950" dirty="0"/>
          </a:p>
        </p:txBody>
      </p:sp>
      <p:sp>
        <p:nvSpPr>
          <p:cNvPr id="19" name="Shape 14"/>
          <p:cNvSpPr/>
          <p:nvPr/>
        </p:nvSpPr>
        <p:spPr>
          <a:xfrm>
            <a:off x="457200" y="2560320"/>
            <a:ext cx="2651760" cy="1188720"/>
          </a:xfrm>
          <a:prstGeom prst="roundRect">
            <a:avLst>
              <a:gd name="adj" fmla="val 5385"/>
            </a:avLst>
          </a:prstGeom>
          <a:solidFill>
            <a:srgbClr val="F4F6FA"/>
          </a:solidFill>
          <a:ln/>
          <a:effectLst>
            <a:outerShdw sx="100000" sy="100000" kx="0" ky="0" algn="bl" rotWithShape="0" blurRad="76200" dist="25400" dir="2700000">
              <a:srgbClr val="000000">
                <a:alpha val="14000"/>
              </a:srgbClr>
            </a:outerShdw>
          </a:effectLst>
        </p:spPr>
      </p:sp>
      <p:sp>
        <p:nvSpPr>
          <p:cNvPr id="20" name="Shape 15"/>
          <p:cNvSpPr/>
          <p:nvPr/>
        </p:nvSpPr>
        <p:spPr>
          <a:xfrm>
            <a:off x="621792" y="2724912"/>
            <a:ext cx="457200" cy="45720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740664" y="2843784"/>
            <a:ext cx="219456" cy="219456"/>
          </a:xfrm>
          <a:prstGeom prst="rect">
            <a:avLst/>
          </a:prstGeom>
        </p:spPr>
      </p:pic>
      <p:sp>
        <p:nvSpPr>
          <p:cNvPr id="22" name="Text 16"/>
          <p:cNvSpPr/>
          <p:nvPr/>
        </p:nvSpPr>
        <p:spPr>
          <a:xfrm>
            <a:off x="1188720" y="2688336"/>
            <a:ext cx="182880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Data Quality</a:t>
            </a:r>
            <a:endParaRPr lang="en-US" sz="1250" dirty="0"/>
          </a:p>
        </p:txBody>
      </p:sp>
      <p:sp>
        <p:nvSpPr>
          <p:cNvPr id="23" name="Text 17"/>
          <p:cNvSpPr/>
          <p:nvPr/>
        </p:nvSpPr>
        <p:spPr>
          <a:xfrm>
            <a:off x="1188720" y="2971800"/>
            <a:ext cx="1828800" cy="6858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DQDL rules plus ML anomaly detection</a:t>
            </a:r>
            <a:endParaRPr lang="en-US" sz="950" dirty="0"/>
          </a:p>
        </p:txBody>
      </p:sp>
      <p:sp>
        <p:nvSpPr>
          <p:cNvPr id="24" name="Shape 18"/>
          <p:cNvSpPr/>
          <p:nvPr/>
        </p:nvSpPr>
        <p:spPr>
          <a:xfrm>
            <a:off x="3291840" y="2560320"/>
            <a:ext cx="2651760" cy="1188720"/>
          </a:xfrm>
          <a:prstGeom prst="roundRect">
            <a:avLst>
              <a:gd name="adj" fmla="val 5385"/>
            </a:avLst>
          </a:prstGeom>
          <a:solidFill>
            <a:srgbClr val="F4F6FA"/>
          </a:solidFill>
          <a:ln/>
          <a:effectLst>
            <a:outerShdw sx="100000" sy="100000" kx="0" ky="0" algn="bl" rotWithShape="0" blurRad="76200" dist="25400" dir="2700000">
              <a:srgbClr val="000000">
                <a:alpha val="14000"/>
              </a:srgbClr>
            </a:outerShdw>
          </a:effectLst>
        </p:spPr>
      </p:sp>
      <p:sp>
        <p:nvSpPr>
          <p:cNvPr id="25" name="Shape 19"/>
          <p:cNvSpPr/>
          <p:nvPr/>
        </p:nvSpPr>
        <p:spPr>
          <a:xfrm>
            <a:off x="3456432" y="2724912"/>
            <a:ext cx="457200" cy="457200"/>
          </a:xfrm>
          <a:prstGeom prst="ellipse">
            <a:avLst/>
          </a:prstGeom>
          <a:solidFill>
            <a:srgbClr val="FFFFFF"/>
          </a:solidFill>
          <a:ln/>
        </p:spPr>
      </p:sp>
      <p:pic>
        <p:nvPicPr>
          <p:cNvPr id="26" name="Image 4" descr="preencoded.png">    </p:cNvPr>
          <p:cNvPicPr>
            <a:picLocks noChangeAspect="1"/>
          </p:cNvPicPr>
          <p:nvPr/>
        </p:nvPicPr>
        <p:blipFill>
          <a:blip r:embed="rId5"/>
          <a:stretch>
            <a:fillRect/>
          </a:stretch>
        </p:blipFill>
        <p:spPr>
          <a:xfrm>
            <a:off x="3575304" y="2843784"/>
            <a:ext cx="219456" cy="219456"/>
          </a:xfrm>
          <a:prstGeom prst="rect">
            <a:avLst/>
          </a:prstGeom>
        </p:spPr>
      </p:pic>
      <p:sp>
        <p:nvSpPr>
          <p:cNvPr id="27" name="Text 20"/>
          <p:cNvSpPr/>
          <p:nvPr/>
        </p:nvSpPr>
        <p:spPr>
          <a:xfrm>
            <a:off x="4023360" y="2688336"/>
            <a:ext cx="182880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Zero-ETL</a:t>
            </a:r>
            <a:endParaRPr lang="en-US" sz="1250" dirty="0"/>
          </a:p>
        </p:txBody>
      </p:sp>
      <p:sp>
        <p:nvSpPr>
          <p:cNvPr id="28" name="Text 21"/>
          <p:cNvSpPr/>
          <p:nvPr/>
        </p:nvSpPr>
        <p:spPr>
          <a:xfrm>
            <a:off x="4023360" y="2971800"/>
            <a:ext cx="1828800" cy="6858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Managed replication, no pipelines to build</a:t>
            </a:r>
            <a:endParaRPr lang="en-US" sz="950" dirty="0"/>
          </a:p>
        </p:txBody>
      </p:sp>
      <p:sp>
        <p:nvSpPr>
          <p:cNvPr id="29" name="Shape 22"/>
          <p:cNvSpPr/>
          <p:nvPr/>
        </p:nvSpPr>
        <p:spPr>
          <a:xfrm>
            <a:off x="6126480" y="2560320"/>
            <a:ext cx="2651760" cy="1188720"/>
          </a:xfrm>
          <a:prstGeom prst="roundRect">
            <a:avLst>
              <a:gd name="adj" fmla="val 5385"/>
            </a:avLst>
          </a:prstGeom>
          <a:solidFill>
            <a:srgbClr val="F4F6FA"/>
          </a:solidFill>
          <a:ln/>
          <a:effectLst>
            <a:outerShdw sx="100000" sy="100000" kx="0" ky="0" algn="bl" rotWithShape="0" blurRad="76200" dist="25400" dir="2700000">
              <a:srgbClr val="000000">
                <a:alpha val="14000"/>
              </a:srgbClr>
            </a:outerShdw>
          </a:effectLst>
        </p:spPr>
      </p:sp>
      <p:sp>
        <p:nvSpPr>
          <p:cNvPr id="30" name="Shape 23"/>
          <p:cNvSpPr/>
          <p:nvPr/>
        </p:nvSpPr>
        <p:spPr>
          <a:xfrm>
            <a:off x="6291072" y="2724912"/>
            <a:ext cx="457200" cy="457200"/>
          </a:xfrm>
          <a:prstGeom prst="ellipse">
            <a:avLst/>
          </a:prstGeom>
          <a:solidFill>
            <a:srgbClr val="FFFFFF"/>
          </a:solidFill>
          <a:ln/>
        </p:spPr>
      </p:sp>
      <p:pic>
        <p:nvPicPr>
          <p:cNvPr id="31" name="Image 5" descr="preencoded.png">    </p:cNvPr>
          <p:cNvPicPr>
            <a:picLocks noChangeAspect="1"/>
          </p:cNvPicPr>
          <p:nvPr/>
        </p:nvPicPr>
        <p:blipFill>
          <a:blip r:embed="rId6"/>
          <a:stretch>
            <a:fillRect/>
          </a:stretch>
        </p:blipFill>
        <p:spPr>
          <a:xfrm>
            <a:off x="6409944" y="2843784"/>
            <a:ext cx="219456" cy="219456"/>
          </a:xfrm>
          <a:prstGeom prst="rect">
            <a:avLst/>
          </a:prstGeom>
        </p:spPr>
      </p:pic>
      <p:sp>
        <p:nvSpPr>
          <p:cNvPr id="32" name="Text 24"/>
          <p:cNvSpPr/>
          <p:nvPr/>
        </p:nvSpPr>
        <p:spPr>
          <a:xfrm>
            <a:off x="6858000" y="2688336"/>
            <a:ext cx="182880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Schema Registry</a:t>
            </a:r>
            <a:endParaRPr lang="en-US" sz="1250" dirty="0"/>
          </a:p>
        </p:txBody>
      </p:sp>
      <p:sp>
        <p:nvSpPr>
          <p:cNvPr id="33" name="Text 25"/>
          <p:cNvSpPr/>
          <p:nvPr/>
        </p:nvSpPr>
        <p:spPr>
          <a:xfrm>
            <a:off x="6858000" y="2971800"/>
            <a:ext cx="1828800" cy="6858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Enforce schemas on streams, free</a:t>
            </a:r>
            <a:endParaRPr lang="en-US" sz="950" dirty="0"/>
          </a:p>
        </p:txBody>
      </p:sp>
      <p:sp>
        <p:nvSpPr>
          <p:cNvPr id="34" name="Text 26"/>
          <p:cNvSpPr/>
          <p:nvPr/>
        </p:nvSpPr>
        <p:spPr>
          <a:xfrm>
            <a:off x="457200" y="4114800"/>
            <a:ext cx="8229600" cy="365760"/>
          </a:xfrm>
          <a:prstGeom prst="rect">
            <a:avLst/>
          </a:prstGeom>
          <a:noFill/>
          <a:ln/>
        </p:spPr>
        <p:txBody>
          <a:bodyPr wrap="square" rtlCol="0" anchor="ctr"/>
          <a:lstStyle/>
          <a:p>
            <a:pPr algn="ctr" indent="0" marL="0">
              <a:buNone/>
            </a:pPr>
            <a:r>
              <a:rPr lang="en-US" sz="1200" b="1" dirty="0">
                <a:solidFill>
                  <a:srgbClr val="33415C"/>
                </a:solidFill>
                <a:latin typeface="Calibri" pitchFamily="34" charset="0"/>
                <a:ea typeface="Calibri" pitchFamily="34" charset="-122"/>
                <a:cs typeface="Calibri" pitchFamily="34" charset="-120"/>
              </a:rPr>
              <a:t>Serverless: no clusters to manage      </a:t>
            </a:r>
            <a:pPr algn="ctr" indent="0" marL="0">
              <a:buNone/>
            </a:pPr>
            <a:r>
              <a:rPr lang="en-US" sz="1200" dirty="0">
                <a:solidFill>
                  <a:srgbClr val="33415C"/>
                </a:solidFill>
                <a:latin typeface="Calibri" pitchFamily="34" charset="0"/>
                <a:ea typeface="Calibri" pitchFamily="34" charset="-122"/>
                <a:cs typeface="Calibri" pitchFamily="34" charset="-120"/>
              </a:rPr>
              <a:t>1 DPU = 4 vCPU + 16 GB      </a:t>
            </a:r>
            <a:pPr algn="ctr" indent="0" marL="0">
              <a:buNone/>
            </a:pPr>
            <a:r>
              <a:rPr lang="en-US" sz="1200" b="1" dirty="0">
                <a:solidFill>
                  <a:srgbClr val="D97706"/>
                </a:solidFill>
                <a:latin typeface="Calibri" pitchFamily="34" charset="0"/>
                <a:ea typeface="Calibri" pitchFamily="34" charset="-122"/>
                <a:cs typeface="Calibri" pitchFamily="34" charset="-120"/>
              </a:rPr>
              <a:t>$0.44 per DPU-hour (FLEX: $0.29)</a:t>
            </a:r>
            <a:endParaRPr lang="en-US" sz="1200" dirty="0"/>
          </a:p>
        </p:txBody>
      </p:sp>
      <p:sp>
        <p:nvSpPr>
          <p:cNvPr id="36" name="Text 27"/>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PART I: AWS GLUE</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Five terms you need in your vocabulary</a:t>
            </a:r>
            <a:endParaRPr lang="en-US" sz="2500" dirty="0"/>
          </a:p>
        </p:txBody>
      </p:sp>
      <p:sp>
        <p:nvSpPr>
          <p:cNvPr id="4" name="Shape 2"/>
          <p:cNvSpPr/>
          <p:nvPr/>
        </p:nvSpPr>
        <p:spPr>
          <a:xfrm>
            <a:off x="457200" y="1188720"/>
            <a:ext cx="502920" cy="502920"/>
          </a:xfrm>
          <a:prstGeom prst="ellipse">
            <a:avLst/>
          </a:prstGeom>
          <a:solidFill>
            <a:srgbClr val="F4F6FA"/>
          </a:solidFill>
          <a:ln/>
        </p:spPr>
      </p:sp>
      <p:pic>
        <p:nvPicPr>
          <p:cNvPr id="5" name="Image 0" descr="preencoded.png">    </p:cNvPr>
          <p:cNvPicPr>
            <a:picLocks noChangeAspect="1"/>
          </p:cNvPicPr>
          <p:nvPr/>
        </p:nvPicPr>
        <p:blipFill>
          <a:blip r:embed="rId1"/>
          <a:stretch>
            <a:fillRect/>
          </a:stretch>
        </p:blipFill>
        <p:spPr>
          <a:xfrm>
            <a:off x="587959" y="1319479"/>
            <a:ext cx="241402" cy="241402"/>
          </a:xfrm>
          <a:prstGeom prst="rect">
            <a:avLst/>
          </a:prstGeom>
        </p:spPr>
      </p:pic>
      <p:sp>
        <p:nvSpPr>
          <p:cNvPr id="6" name="Text 3"/>
          <p:cNvSpPr/>
          <p:nvPr/>
        </p:nvSpPr>
        <p:spPr>
          <a:xfrm>
            <a:off x="1143000" y="1170432"/>
            <a:ext cx="1737360" cy="5029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 Catalog</a:t>
            </a:r>
            <a:endParaRPr lang="en-US" sz="1300" dirty="0"/>
          </a:p>
        </p:txBody>
      </p:sp>
      <p:sp>
        <p:nvSpPr>
          <p:cNvPr id="7" name="Text 4"/>
          <p:cNvSpPr/>
          <p:nvPr/>
        </p:nvSpPr>
        <p:spPr>
          <a:xfrm>
            <a:off x="2926080" y="1133856"/>
            <a:ext cx="5760720" cy="658368"/>
          </a:xfrm>
          <a:prstGeom prst="rect">
            <a:avLst/>
          </a:prstGeom>
          <a:noFill/>
          <a:ln/>
        </p:spPr>
        <p:txBody>
          <a:bodyPr wrap="square" lIns="0" tIns="0" rIns="0" bIns="0" rtlCol="0" anchor="ctr"/>
          <a:lstStyle/>
          <a:p>
            <a:pPr indent="0" marL="0">
              <a:buNone/>
            </a:pPr>
            <a:r>
              <a:rPr lang="en-US" sz="1050" dirty="0">
                <a:solidFill>
                  <a:srgbClr val="33415C"/>
                </a:solidFill>
                <a:latin typeface="Calibri" pitchFamily="34" charset="0"/>
                <a:ea typeface="Calibri" pitchFamily="34" charset="-122"/>
                <a:cs typeface="Calibri" pitchFamily="34" charset="-120"/>
              </a:rPr>
              <a:t>One per region. Databases, tables, partitions, connections, statistics. Athena, Redshift, and EMR all read it.</a:t>
            </a:r>
            <a:endParaRPr lang="en-US" sz="1050" dirty="0"/>
          </a:p>
        </p:txBody>
      </p:sp>
      <p:sp>
        <p:nvSpPr>
          <p:cNvPr id="8" name="Shape 5"/>
          <p:cNvSpPr/>
          <p:nvPr/>
        </p:nvSpPr>
        <p:spPr>
          <a:xfrm>
            <a:off x="457200" y="1920240"/>
            <a:ext cx="502920" cy="502920"/>
          </a:xfrm>
          <a:prstGeom prst="ellipse">
            <a:avLst/>
          </a:prstGeom>
          <a:solidFill>
            <a:srgbClr val="F4F6FA"/>
          </a:solidFill>
          <a:ln/>
        </p:spPr>
      </p:sp>
      <p:pic>
        <p:nvPicPr>
          <p:cNvPr id="9" name="Image 1" descr="preencoded.png">    </p:cNvPr>
          <p:cNvPicPr>
            <a:picLocks noChangeAspect="1"/>
          </p:cNvPicPr>
          <p:nvPr/>
        </p:nvPicPr>
        <p:blipFill>
          <a:blip r:embed="rId2"/>
          <a:stretch>
            <a:fillRect/>
          </a:stretch>
        </p:blipFill>
        <p:spPr>
          <a:xfrm>
            <a:off x="587959" y="2050999"/>
            <a:ext cx="241402" cy="241402"/>
          </a:xfrm>
          <a:prstGeom prst="rect">
            <a:avLst/>
          </a:prstGeom>
        </p:spPr>
      </p:pic>
      <p:sp>
        <p:nvSpPr>
          <p:cNvPr id="10" name="Text 6"/>
          <p:cNvSpPr/>
          <p:nvPr/>
        </p:nvSpPr>
        <p:spPr>
          <a:xfrm>
            <a:off x="1143000" y="1901952"/>
            <a:ext cx="1737360" cy="5029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DynamicFrame</a:t>
            </a:r>
            <a:endParaRPr lang="en-US" sz="1300" dirty="0"/>
          </a:p>
        </p:txBody>
      </p:sp>
      <p:sp>
        <p:nvSpPr>
          <p:cNvPr id="11" name="Text 7"/>
          <p:cNvSpPr/>
          <p:nvPr/>
        </p:nvSpPr>
        <p:spPr>
          <a:xfrm>
            <a:off x="2926080" y="1865376"/>
            <a:ext cx="5760720" cy="658368"/>
          </a:xfrm>
          <a:prstGeom prst="rect">
            <a:avLst/>
          </a:prstGeom>
          <a:noFill/>
          <a:ln/>
        </p:spPr>
        <p:txBody>
          <a:bodyPr wrap="square" lIns="0" tIns="0" rIns="0" bIns="0" rtlCol="0" anchor="ctr"/>
          <a:lstStyle/>
          <a:p>
            <a:pPr indent="0" marL="0">
              <a:buNone/>
            </a:pPr>
            <a:r>
              <a:rPr lang="en-US" sz="1050" dirty="0">
                <a:solidFill>
                  <a:srgbClr val="33415C"/>
                </a:solidFill>
                <a:latin typeface="Calibri" pitchFamily="34" charset="0"/>
                <a:ea typeface="Calibri" pitchFamily="34" charset="-122"/>
                <a:cs typeface="Calibri" pitchFamily="34" charset="-120"/>
              </a:rPr>
              <a:t>Glue's native data structure. Each record carries its own schema, so schema drift and messy nested data do not break the job.</a:t>
            </a:r>
            <a:endParaRPr lang="en-US" sz="1050" dirty="0"/>
          </a:p>
        </p:txBody>
      </p:sp>
      <p:sp>
        <p:nvSpPr>
          <p:cNvPr id="12" name="Shape 8"/>
          <p:cNvSpPr/>
          <p:nvPr/>
        </p:nvSpPr>
        <p:spPr>
          <a:xfrm>
            <a:off x="457200" y="2651760"/>
            <a:ext cx="502920" cy="502920"/>
          </a:xfrm>
          <a:prstGeom prst="ellipse">
            <a:avLst/>
          </a:prstGeom>
          <a:solidFill>
            <a:srgbClr val="F4F6FA"/>
          </a:solidFill>
          <a:ln/>
        </p:spPr>
      </p:sp>
      <p:pic>
        <p:nvPicPr>
          <p:cNvPr id="13" name="Image 2" descr="preencoded.png">    </p:cNvPr>
          <p:cNvPicPr>
            <a:picLocks noChangeAspect="1"/>
          </p:cNvPicPr>
          <p:nvPr/>
        </p:nvPicPr>
        <p:blipFill>
          <a:blip r:embed="rId3"/>
          <a:stretch>
            <a:fillRect/>
          </a:stretch>
        </p:blipFill>
        <p:spPr>
          <a:xfrm>
            <a:off x="587959" y="2782519"/>
            <a:ext cx="241402" cy="241402"/>
          </a:xfrm>
          <a:prstGeom prst="rect">
            <a:avLst/>
          </a:prstGeom>
        </p:spPr>
      </p:pic>
      <p:sp>
        <p:nvSpPr>
          <p:cNvPr id="14" name="Text 9"/>
          <p:cNvSpPr/>
          <p:nvPr/>
        </p:nvSpPr>
        <p:spPr>
          <a:xfrm>
            <a:off x="1143000" y="2633472"/>
            <a:ext cx="1737360" cy="5029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Crawler</a:t>
            </a:r>
            <a:endParaRPr lang="en-US" sz="1300" dirty="0"/>
          </a:p>
        </p:txBody>
      </p:sp>
      <p:sp>
        <p:nvSpPr>
          <p:cNvPr id="15" name="Text 10"/>
          <p:cNvSpPr/>
          <p:nvPr/>
        </p:nvSpPr>
        <p:spPr>
          <a:xfrm>
            <a:off x="2926080" y="2596896"/>
            <a:ext cx="5760720" cy="658368"/>
          </a:xfrm>
          <a:prstGeom prst="rect">
            <a:avLst/>
          </a:prstGeom>
          <a:noFill/>
          <a:ln/>
        </p:spPr>
        <p:txBody>
          <a:bodyPr wrap="square" lIns="0" tIns="0" rIns="0" bIns="0" rtlCol="0" anchor="ctr"/>
          <a:lstStyle/>
          <a:p>
            <a:pPr indent="0" marL="0">
              <a:buNone/>
            </a:pPr>
            <a:r>
              <a:rPr lang="en-US" sz="1050" dirty="0">
                <a:solidFill>
                  <a:srgbClr val="33415C"/>
                </a:solidFill>
                <a:latin typeface="Calibri" pitchFamily="34" charset="0"/>
                <a:ea typeface="Calibri" pitchFamily="34" charset="-122"/>
                <a:cs typeface="Calibri" pitchFamily="34" charset="-120"/>
              </a:rPr>
              <a:t>Connects to S3, JDBC, or DynamoDB, infers schemas with classifiers, and auto-populates catalog tables.</a:t>
            </a:r>
            <a:endParaRPr lang="en-US" sz="1050" dirty="0"/>
          </a:p>
        </p:txBody>
      </p:sp>
      <p:sp>
        <p:nvSpPr>
          <p:cNvPr id="16" name="Shape 11"/>
          <p:cNvSpPr/>
          <p:nvPr/>
        </p:nvSpPr>
        <p:spPr>
          <a:xfrm>
            <a:off x="457200" y="3383280"/>
            <a:ext cx="502920" cy="502920"/>
          </a:xfrm>
          <a:prstGeom prst="ellipse">
            <a:avLst/>
          </a:prstGeom>
          <a:solidFill>
            <a:srgbClr val="F4F6FA"/>
          </a:solidFill>
          <a:ln/>
        </p:spPr>
      </p:sp>
      <p:pic>
        <p:nvPicPr>
          <p:cNvPr id="17" name="Image 3" descr="preencoded.png">    </p:cNvPr>
          <p:cNvPicPr>
            <a:picLocks noChangeAspect="1"/>
          </p:cNvPicPr>
          <p:nvPr/>
        </p:nvPicPr>
        <p:blipFill>
          <a:blip r:embed="rId4"/>
          <a:stretch>
            <a:fillRect/>
          </a:stretch>
        </p:blipFill>
        <p:spPr>
          <a:xfrm>
            <a:off x="587959" y="3514039"/>
            <a:ext cx="241402" cy="241402"/>
          </a:xfrm>
          <a:prstGeom prst="rect">
            <a:avLst/>
          </a:prstGeom>
        </p:spPr>
      </p:pic>
      <p:sp>
        <p:nvSpPr>
          <p:cNvPr id="18" name="Text 12"/>
          <p:cNvSpPr/>
          <p:nvPr/>
        </p:nvSpPr>
        <p:spPr>
          <a:xfrm>
            <a:off x="1143000" y="3364992"/>
            <a:ext cx="1737360" cy="5029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Job + Trigger</a:t>
            </a:r>
            <a:endParaRPr lang="en-US" sz="1300" dirty="0"/>
          </a:p>
        </p:txBody>
      </p:sp>
      <p:sp>
        <p:nvSpPr>
          <p:cNvPr id="19" name="Text 13"/>
          <p:cNvSpPr/>
          <p:nvPr/>
        </p:nvSpPr>
        <p:spPr>
          <a:xfrm>
            <a:off x="2926080" y="3328416"/>
            <a:ext cx="5760720" cy="658368"/>
          </a:xfrm>
          <a:prstGeom prst="rect">
            <a:avLst/>
          </a:prstGeom>
          <a:noFill/>
          <a:ln/>
        </p:spPr>
        <p:txBody>
          <a:bodyPr wrap="square" lIns="0" tIns="0" rIns="0" bIns="0" rtlCol="0" anchor="ctr"/>
          <a:lstStyle/>
          <a:p>
            <a:pPr indent="0" marL="0">
              <a:buNone/>
            </a:pPr>
            <a:r>
              <a:rPr lang="en-US" sz="1050" dirty="0">
                <a:solidFill>
                  <a:srgbClr val="33415C"/>
                </a:solidFill>
                <a:latin typeface="Calibri" pitchFamily="34" charset="0"/>
                <a:ea typeface="Calibri" pitchFamily="34" charset="-122"/>
                <a:cs typeface="Calibri" pitchFamily="34" charset="-120"/>
              </a:rPr>
              <a:t>A job is the execution unit (script, sources, targets). Triggers start it: cron, on-demand, events, or job chaining.</a:t>
            </a:r>
            <a:endParaRPr lang="en-US" sz="1050" dirty="0"/>
          </a:p>
        </p:txBody>
      </p:sp>
      <p:sp>
        <p:nvSpPr>
          <p:cNvPr id="20" name="Shape 14"/>
          <p:cNvSpPr/>
          <p:nvPr/>
        </p:nvSpPr>
        <p:spPr>
          <a:xfrm>
            <a:off x="457200" y="4114800"/>
            <a:ext cx="502920" cy="502920"/>
          </a:xfrm>
          <a:prstGeom prst="ellipse">
            <a:avLst/>
          </a:prstGeom>
          <a:solidFill>
            <a:srgbClr val="F4F6FA"/>
          </a:solidFill>
          <a:ln/>
        </p:spPr>
      </p:sp>
      <p:pic>
        <p:nvPicPr>
          <p:cNvPr id="21" name="Image 4" descr="preencoded.png">    </p:cNvPr>
          <p:cNvPicPr>
            <a:picLocks noChangeAspect="1"/>
          </p:cNvPicPr>
          <p:nvPr/>
        </p:nvPicPr>
        <p:blipFill>
          <a:blip r:embed="rId5"/>
          <a:stretch>
            <a:fillRect/>
          </a:stretch>
        </p:blipFill>
        <p:spPr>
          <a:xfrm>
            <a:off x="587959" y="4245559"/>
            <a:ext cx="241402" cy="241402"/>
          </a:xfrm>
          <a:prstGeom prst="rect">
            <a:avLst/>
          </a:prstGeom>
        </p:spPr>
      </p:pic>
      <p:sp>
        <p:nvSpPr>
          <p:cNvPr id="22" name="Text 15"/>
          <p:cNvSpPr/>
          <p:nvPr/>
        </p:nvSpPr>
        <p:spPr>
          <a:xfrm>
            <a:off x="1143000" y="4096512"/>
            <a:ext cx="1737360" cy="5029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Workflow</a:t>
            </a:r>
            <a:endParaRPr lang="en-US" sz="1300" dirty="0"/>
          </a:p>
        </p:txBody>
      </p:sp>
      <p:sp>
        <p:nvSpPr>
          <p:cNvPr id="23" name="Text 16"/>
          <p:cNvSpPr/>
          <p:nvPr/>
        </p:nvSpPr>
        <p:spPr>
          <a:xfrm>
            <a:off x="2926080" y="4059936"/>
            <a:ext cx="5760720" cy="658368"/>
          </a:xfrm>
          <a:prstGeom prst="rect">
            <a:avLst/>
          </a:prstGeom>
          <a:noFill/>
          <a:ln/>
        </p:spPr>
        <p:txBody>
          <a:bodyPr wrap="square" lIns="0" tIns="0" rIns="0" bIns="0" rtlCol="0" anchor="ctr"/>
          <a:lstStyle/>
          <a:p>
            <a:pPr indent="0" marL="0">
              <a:buNone/>
            </a:pPr>
            <a:r>
              <a:rPr lang="en-US" sz="1050" dirty="0">
                <a:solidFill>
                  <a:srgbClr val="33415C"/>
                </a:solidFill>
                <a:latin typeface="Calibri" pitchFamily="34" charset="0"/>
                <a:ea typeface="Calibri" pitchFamily="34" charset="-122"/>
                <a:cs typeface="Calibri" pitchFamily="34" charset="-120"/>
              </a:rPr>
              <a:t>A DAG of crawlers, jobs, and triggers. Lightweight orchestration without Airflow.</a:t>
            </a:r>
            <a:endParaRPr lang="en-US" sz="1050" dirty="0"/>
          </a:p>
        </p:txBody>
      </p:sp>
      <p:sp>
        <p:nvSpPr>
          <p:cNvPr id="25" name="Text 17"/>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PART I: AWS GLUE</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Five authoring modes, one platform</a:t>
            </a:r>
            <a:endParaRPr lang="en-US" sz="2500" dirty="0"/>
          </a:p>
        </p:txBody>
      </p:sp>
      <p:sp>
        <p:nvSpPr>
          <p:cNvPr id="4" name="Shape 2"/>
          <p:cNvSpPr/>
          <p:nvPr/>
        </p:nvSpPr>
        <p:spPr>
          <a:xfrm>
            <a:off x="457200" y="1371600"/>
            <a:ext cx="1965960" cy="1417320"/>
          </a:xfrm>
          <a:prstGeom prst="roundRect">
            <a:avLst>
              <a:gd name="adj" fmla="val 4516"/>
            </a:avLst>
          </a:prstGeom>
          <a:solidFill>
            <a:srgbClr val="FBF1E2"/>
          </a:solidFill>
          <a:ln/>
          <a:effectLst>
            <a:outerShdw sx="100000" sy="100000" kx="0" ky="0" algn="bl" rotWithShape="0" blurRad="76200" dist="25400" dir="2700000">
              <a:srgbClr val="000000">
                <a:alpha val="14000"/>
              </a:srgbClr>
            </a:outerShdw>
          </a:effectLst>
        </p:spPr>
      </p:sp>
      <p:sp>
        <p:nvSpPr>
          <p:cNvPr id="5" name="Text 3"/>
          <p:cNvSpPr/>
          <p:nvPr/>
        </p:nvSpPr>
        <p:spPr>
          <a:xfrm>
            <a:off x="566928" y="1517904"/>
            <a:ext cx="178308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Data Preparation</a:t>
            </a:r>
            <a:endParaRPr lang="en-US" sz="1250" dirty="0"/>
          </a:p>
        </p:txBody>
      </p:sp>
      <p:sp>
        <p:nvSpPr>
          <p:cNvPr id="6" name="Text 4"/>
          <p:cNvSpPr/>
          <p:nvPr/>
        </p:nvSpPr>
        <p:spPr>
          <a:xfrm>
            <a:off x="566928" y="1810512"/>
            <a:ext cx="1783080" cy="274320"/>
          </a:xfrm>
          <a:prstGeom prst="rect">
            <a:avLst/>
          </a:prstGeom>
          <a:noFill/>
          <a:ln/>
        </p:spPr>
        <p:txBody>
          <a:bodyPr wrap="square" lIns="0" tIns="0" rIns="0" bIns="0" rtlCol="0" anchor="ctr"/>
          <a:lstStyle/>
          <a:p>
            <a:pPr indent="0" marL="0">
              <a:buNone/>
            </a:pPr>
            <a:r>
              <a:rPr lang="en-US" sz="1000" dirty="0">
                <a:solidFill>
                  <a:srgbClr val="33415C"/>
                </a:solidFill>
                <a:latin typeface="Calibri" pitchFamily="34" charset="0"/>
                <a:ea typeface="Calibri" pitchFamily="34" charset="-122"/>
                <a:cs typeface="Calibri" pitchFamily="34" charset="-120"/>
              </a:rPr>
              <a:t>No-code cleansing</a:t>
            </a:r>
            <a:endParaRPr lang="en-US" sz="1000" dirty="0"/>
          </a:p>
        </p:txBody>
      </p:sp>
      <p:sp>
        <p:nvSpPr>
          <p:cNvPr id="7" name="Text 5"/>
          <p:cNvSpPr/>
          <p:nvPr/>
        </p:nvSpPr>
        <p:spPr>
          <a:xfrm>
            <a:off x="566928" y="2331720"/>
            <a:ext cx="1783080" cy="27432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Analysts</a:t>
            </a:r>
            <a:endParaRPr lang="en-US" sz="950" dirty="0"/>
          </a:p>
        </p:txBody>
      </p:sp>
      <p:sp>
        <p:nvSpPr>
          <p:cNvPr id="8" name="Text 6"/>
          <p:cNvSpPr/>
          <p:nvPr/>
        </p:nvSpPr>
        <p:spPr>
          <a:xfrm>
            <a:off x="2404872" y="1828800"/>
            <a:ext cx="274320" cy="365760"/>
          </a:xfrm>
          <a:prstGeom prst="rect">
            <a:avLst/>
          </a:prstGeom>
          <a:noFill/>
          <a:ln/>
        </p:spPr>
        <p:txBody>
          <a:bodyPr wrap="square" lIns="0" tIns="0" rIns="0" bIns="0" rtlCol="0" anchor="ctr"/>
          <a:lstStyle/>
          <a:p>
            <a:pPr algn="ctr" indent="0" marL="0">
              <a:buNone/>
            </a:pPr>
            <a:r>
              <a:rPr lang="en-US" sz="1800" b="1" dirty="0">
                <a:solidFill>
                  <a:srgbClr val="64748B"/>
                </a:solidFill>
                <a:latin typeface="Calibri" pitchFamily="34" charset="0"/>
                <a:ea typeface="Calibri" pitchFamily="34" charset="-122"/>
                <a:cs typeface="Calibri" pitchFamily="34" charset="-120"/>
              </a:rPr>
              <a:t>&gt;</a:t>
            </a:r>
            <a:endParaRPr lang="en-US" sz="1800" dirty="0"/>
          </a:p>
        </p:txBody>
      </p:sp>
      <p:sp>
        <p:nvSpPr>
          <p:cNvPr id="9" name="Shape 7"/>
          <p:cNvSpPr/>
          <p:nvPr/>
        </p:nvSpPr>
        <p:spPr>
          <a:xfrm>
            <a:off x="2633472" y="1371600"/>
            <a:ext cx="1965960" cy="1417320"/>
          </a:xfrm>
          <a:prstGeom prst="roundRect">
            <a:avLst>
              <a:gd name="adj" fmla="val 4516"/>
            </a:avLst>
          </a:prstGeom>
          <a:solidFill>
            <a:srgbClr val="FBF1E2"/>
          </a:solidFill>
          <a:ln/>
          <a:effectLst>
            <a:outerShdw sx="100000" sy="100000" kx="0" ky="0" algn="bl" rotWithShape="0" blurRad="76200" dist="25400" dir="2700000">
              <a:srgbClr val="000000">
                <a:alpha val="14000"/>
              </a:srgbClr>
            </a:outerShdw>
          </a:effectLst>
        </p:spPr>
      </p:sp>
      <p:sp>
        <p:nvSpPr>
          <p:cNvPr id="10" name="Text 8"/>
          <p:cNvSpPr/>
          <p:nvPr/>
        </p:nvSpPr>
        <p:spPr>
          <a:xfrm>
            <a:off x="2743200" y="1517904"/>
            <a:ext cx="178308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Visual ETL</a:t>
            </a:r>
            <a:endParaRPr lang="en-US" sz="1250" dirty="0"/>
          </a:p>
        </p:txBody>
      </p:sp>
      <p:sp>
        <p:nvSpPr>
          <p:cNvPr id="11" name="Text 9"/>
          <p:cNvSpPr/>
          <p:nvPr/>
        </p:nvSpPr>
        <p:spPr>
          <a:xfrm>
            <a:off x="2743200" y="1810512"/>
            <a:ext cx="1783080" cy="274320"/>
          </a:xfrm>
          <a:prstGeom prst="rect">
            <a:avLst/>
          </a:prstGeom>
          <a:noFill/>
          <a:ln/>
        </p:spPr>
        <p:txBody>
          <a:bodyPr wrap="square" lIns="0" tIns="0" rIns="0" bIns="0" rtlCol="0" anchor="ctr"/>
          <a:lstStyle/>
          <a:p>
            <a:pPr indent="0" marL="0">
              <a:buNone/>
            </a:pPr>
            <a:r>
              <a:rPr lang="en-US" sz="1000" dirty="0">
                <a:solidFill>
                  <a:srgbClr val="33415C"/>
                </a:solidFill>
                <a:latin typeface="Calibri" pitchFamily="34" charset="0"/>
                <a:ea typeface="Calibri" pitchFamily="34" charset="-122"/>
                <a:cs typeface="Calibri" pitchFamily="34" charset="-120"/>
              </a:rPr>
              <a:t>No-code pipelines</a:t>
            </a:r>
            <a:endParaRPr lang="en-US" sz="1000" dirty="0"/>
          </a:p>
        </p:txBody>
      </p:sp>
      <p:sp>
        <p:nvSpPr>
          <p:cNvPr id="12" name="Text 10"/>
          <p:cNvSpPr/>
          <p:nvPr/>
        </p:nvSpPr>
        <p:spPr>
          <a:xfrm>
            <a:off x="2743200" y="2331720"/>
            <a:ext cx="1783080" cy="27432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Analysts, engineers</a:t>
            </a:r>
            <a:endParaRPr lang="en-US" sz="950" dirty="0"/>
          </a:p>
        </p:txBody>
      </p:sp>
      <p:sp>
        <p:nvSpPr>
          <p:cNvPr id="13" name="Text 11"/>
          <p:cNvSpPr/>
          <p:nvPr/>
        </p:nvSpPr>
        <p:spPr>
          <a:xfrm>
            <a:off x="4581144" y="1828800"/>
            <a:ext cx="274320" cy="365760"/>
          </a:xfrm>
          <a:prstGeom prst="rect">
            <a:avLst/>
          </a:prstGeom>
          <a:noFill/>
          <a:ln/>
        </p:spPr>
        <p:txBody>
          <a:bodyPr wrap="square" lIns="0" tIns="0" rIns="0" bIns="0" rtlCol="0" anchor="ctr"/>
          <a:lstStyle/>
          <a:p>
            <a:pPr algn="ctr" indent="0" marL="0">
              <a:buNone/>
            </a:pPr>
            <a:r>
              <a:rPr lang="en-US" sz="1800" b="1" dirty="0">
                <a:solidFill>
                  <a:srgbClr val="64748B"/>
                </a:solidFill>
                <a:latin typeface="Calibri" pitchFamily="34" charset="0"/>
                <a:ea typeface="Calibri" pitchFamily="34" charset="-122"/>
                <a:cs typeface="Calibri" pitchFamily="34" charset="-120"/>
              </a:rPr>
              <a:t>&gt;</a:t>
            </a:r>
            <a:endParaRPr lang="en-US" sz="1800" dirty="0"/>
          </a:p>
        </p:txBody>
      </p:sp>
      <p:sp>
        <p:nvSpPr>
          <p:cNvPr id="14" name="Shape 12"/>
          <p:cNvSpPr/>
          <p:nvPr/>
        </p:nvSpPr>
        <p:spPr>
          <a:xfrm>
            <a:off x="4809744" y="1371600"/>
            <a:ext cx="1965960" cy="1417320"/>
          </a:xfrm>
          <a:prstGeom prst="roundRect">
            <a:avLst>
              <a:gd name="adj" fmla="val 4516"/>
            </a:avLst>
          </a:prstGeom>
          <a:solidFill>
            <a:srgbClr val="F4F6FA"/>
          </a:solidFill>
          <a:ln/>
          <a:effectLst>
            <a:outerShdw sx="100000" sy="100000" kx="0" ky="0" algn="bl" rotWithShape="0" blurRad="76200" dist="25400" dir="2700000">
              <a:srgbClr val="000000">
                <a:alpha val="14000"/>
              </a:srgbClr>
            </a:outerShdw>
          </a:effectLst>
        </p:spPr>
      </p:sp>
      <p:sp>
        <p:nvSpPr>
          <p:cNvPr id="15" name="Text 13"/>
          <p:cNvSpPr/>
          <p:nvPr/>
        </p:nvSpPr>
        <p:spPr>
          <a:xfrm>
            <a:off x="4919472" y="1517904"/>
            <a:ext cx="178308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Notebooks</a:t>
            </a:r>
            <a:endParaRPr lang="en-US" sz="1250" dirty="0"/>
          </a:p>
        </p:txBody>
      </p:sp>
      <p:sp>
        <p:nvSpPr>
          <p:cNvPr id="16" name="Text 14"/>
          <p:cNvSpPr/>
          <p:nvPr/>
        </p:nvSpPr>
        <p:spPr>
          <a:xfrm>
            <a:off x="4919472" y="1810512"/>
            <a:ext cx="1783080" cy="274320"/>
          </a:xfrm>
          <a:prstGeom prst="rect">
            <a:avLst/>
          </a:prstGeom>
          <a:noFill/>
          <a:ln/>
        </p:spPr>
        <p:txBody>
          <a:bodyPr wrap="square" lIns="0" tIns="0" rIns="0" bIns="0" rtlCol="0" anchor="ctr"/>
          <a:lstStyle/>
          <a:p>
            <a:pPr indent="0" marL="0">
              <a:buNone/>
            </a:pPr>
            <a:r>
              <a:rPr lang="en-US" sz="1000" dirty="0">
                <a:solidFill>
                  <a:srgbClr val="33415C"/>
                </a:solidFill>
                <a:latin typeface="Calibri" pitchFamily="34" charset="0"/>
                <a:ea typeface="Calibri" pitchFamily="34" charset="-122"/>
                <a:cs typeface="Calibri" pitchFamily="34" charset="-120"/>
              </a:rPr>
              <a:t>Low-code Spark</a:t>
            </a:r>
            <a:endParaRPr lang="en-US" sz="1000" dirty="0"/>
          </a:p>
        </p:txBody>
      </p:sp>
      <p:sp>
        <p:nvSpPr>
          <p:cNvPr id="17" name="Text 15"/>
          <p:cNvSpPr/>
          <p:nvPr/>
        </p:nvSpPr>
        <p:spPr>
          <a:xfrm>
            <a:off x="4919472" y="2331720"/>
            <a:ext cx="1783080" cy="27432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Data engineers</a:t>
            </a:r>
            <a:endParaRPr lang="en-US" sz="950" dirty="0"/>
          </a:p>
        </p:txBody>
      </p:sp>
      <p:sp>
        <p:nvSpPr>
          <p:cNvPr id="18" name="Text 16"/>
          <p:cNvSpPr/>
          <p:nvPr/>
        </p:nvSpPr>
        <p:spPr>
          <a:xfrm>
            <a:off x="6757416" y="1828800"/>
            <a:ext cx="274320" cy="365760"/>
          </a:xfrm>
          <a:prstGeom prst="rect">
            <a:avLst/>
          </a:prstGeom>
          <a:noFill/>
          <a:ln/>
        </p:spPr>
        <p:txBody>
          <a:bodyPr wrap="square" lIns="0" tIns="0" rIns="0" bIns="0" rtlCol="0" anchor="ctr"/>
          <a:lstStyle/>
          <a:p>
            <a:pPr algn="ctr" indent="0" marL="0">
              <a:buNone/>
            </a:pPr>
            <a:r>
              <a:rPr lang="en-US" sz="1800" b="1" dirty="0">
                <a:solidFill>
                  <a:srgbClr val="64748B"/>
                </a:solidFill>
                <a:latin typeface="Calibri" pitchFamily="34" charset="0"/>
                <a:ea typeface="Calibri" pitchFamily="34" charset="-122"/>
                <a:cs typeface="Calibri" pitchFamily="34" charset="-120"/>
              </a:rPr>
              <a:t>&gt;</a:t>
            </a:r>
            <a:endParaRPr lang="en-US" sz="1800" dirty="0"/>
          </a:p>
        </p:txBody>
      </p:sp>
      <p:sp>
        <p:nvSpPr>
          <p:cNvPr id="19" name="Shape 17"/>
          <p:cNvSpPr/>
          <p:nvPr/>
        </p:nvSpPr>
        <p:spPr>
          <a:xfrm>
            <a:off x="6986016" y="1371600"/>
            <a:ext cx="1965960" cy="1417320"/>
          </a:xfrm>
          <a:prstGeom prst="roundRect">
            <a:avLst>
              <a:gd name="adj" fmla="val 4516"/>
            </a:avLst>
          </a:prstGeom>
          <a:solidFill>
            <a:srgbClr val="F4F6FA"/>
          </a:solidFill>
          <a:ln/>
          <a:effectLst>
            <a:outerShdw sx="100000" sy="100000" kx="0" ky="0" algn="bl" rotWithShape="0" blurRad="76200" dist="25400" dir="2700000">
              <a:srgbClr val="000000">
                <a:alpha val="14000"/>
              </a:srgbClr>
            </a:outerShdw>
          </a:effectLst>
        </p:spPr>
      </p:sp>
      <p:sp>
        <p:nvSpPr>
          <p:cNvPr id="20" name="Text 18"/>
          <p:cNvSpPr/>
          <p:nvPr/>
        </p:nvSpPr>
        <p:spPr>
          <a:xfrm>
            <a:off x="7095744" y="1517904"/>
            <a:ext cx="178308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Scripts</a:t>
            </a:r>
            <a:endParaRPr lang="en-US" sz="1250" dirty="0"/>
          </a:p>
        </p:txBody>
      </p:sp>
      <p:sp>
        <p:nvSpPr>
          <p:cNvPr id="21" name="Text 19"/>
          <p:cNvSpPr/>
          <p:nvPr/>
        </p:nvSpPr>
        <p:spPr>
          <a:xfrm>
            <a:off x="7095744" y="1810512"/>
            <a:ext cx="1783080" cy="274320"/>
          </a:xfrm>
          <a:prstGeom prst="rect">
            <a:avLst/>
          </a:prstGeom>
          <a:noFill/>
          <a:ln/>
        </p:spPr>
        <p:txBody>
          <a:bodyPr wrap="square" lIns="0" tIns="0" rIns="0" bIns="0" rtlCol="0" anchor="ctr"/>
          <a:lstStyle/>
          <a:p>
            <a:pPr indent="0" marL="0">
              <a:buNone/>
            </a:pPr>
            <a:r>
              <a:rPr lang="en-US" sz="1000" dirty="0">
                <a:solidFill>
                  <a:srgbClr val="33415C"/>
                </a:solidFill>
                <a:latin typeface="Calibri" pitchFamily="34" charset="0"/>
                <a:ea typeface="Calibri" pitchFamily="34" charset="-122"/>
                <a:cs typeface="Calibri" pitchFamily="34" charset="-120"/>
              </a:rPr>
              <a:t>Full PySpark / Scala</a:t>
            </a:r>
            <a:endParaRPr lang="en-US" sz="1000" dirty="0"/>
          </a:p>
        </p:txBody>
      </p:sp>
      <p:sp>
        <p:nvSpPr>
          <p:cNvPr id="22" name="Text 20"/>
          <p:cNvSpPr/>
          <p:nvPr/>
        </p:nvSpPr>
        <p:spPr>
          <a:xfrm>
            <a:off x="7095744" y="2331720"/>
            <a:ext cx="1783080" cy="27432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Engineers</a:t>
            </a:r>
            <a:endParaRPr lang="en-US" sz="950" dirty="0"/>
          </a:p>
        </p:txBody>
      </p:sp>
      <p:sp>
        <p:nvSpPr>
          <p:cNvPr id="23" name="Text 21"/>
          <p:cNvSpPr/>
          <p:nvPr/>
        </p:nvSpPr>
        <p:spPr>
          <a:xfrm>
            <a:off x="457200" y="2926080"/>
            <a:ext cx="18288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Less code</a:t>
            </a:r>
            <a:endParaRPr lang="en-US" sz="1000" dirty="0"/>
          </a:p>
        </p:txBody>
      </p:sp>
      <p:sp>
        <p:nvSpPr>
          <p:cNvPr id="24" name="Text 22"/>
          <p:cNvSpPr/>
          <p:nvPr/>
        </p:nvSpPr>
        <p:spPr>
          <a:xfrm>
            <a:off x="6858000" y="2926080"/>
            <a:ext cx="1874520" cy="274320"/>
          </a:xfrm>
          <a:prstGeom prst="rect">
            <a:avLst/>
          </a:prstGeom>
          <a:noFill/>
          <a:ln/>
        </p:spPr>
        <p:txBody>
          <a:bodyPr wrap="square" rtlCol="0" anchor="ctr"/>
          <a:lstStyle/>
          <a:p>
            <a:pPr algn="r" indent="0" marL="0">
              <a:buNone/>
            </a:pPr>
            <a:r>
              <a:rPr lang="en-US" sz="1000" i="1" dirty="0">
                <a:solidFill>
                  <a:srgbClr val="64748B"/>
                </a:solidFill>
                <a:latin typeface="Calibri" pitchFamily="34" charset="0"/>
                <a:ea typeface="Calibri" pitchFamily="34" charset="-122"/>
                <a:cs typeface="Calibri" pitchFamily="34" charset="-120"/>
              </a:rPr>
              <a:t>More control</a:t>
            </a:r>
            <a:endParaRPr lang="en-US" sz="1000" dirty="0"/>
          </a:p>
        </p:txBody>
      </p:sp>
      <p:sp>
        <p:nvSpPr>
          <p:cNvPr id="25" name="Shape 23"/>
          <p:cNvSpPr/>
          <p:nvPr/>
        </p:nvSpPr>
        <p:spPr>
          <a:xfrm>
            <a:off x="457200" y="3383280"/>
            <a:ext cx="8366760" cy="1051560"/>
          </a:xfrm>
          <a:prstGeom prst="roundRect">
            <a:avLst>
              <a:gd name="adj" fmla="val 6087"/>
            </a:avLst>
          </a:prstGeom>
          <a:solidFill>
            <a:srgbClr val="FDF6EA"/>
          </a:solidFill>
          <a:ln/>
          <a:effectLst>
            <a:outerShdw sx="100000" sy="100000" kx="0" ky="0" algn="bl" rotWithShape="0" blurRad="76200" dist="25400" dir="2700000">
              <a:srgbClr val="000000">
                <a:alpha val="14000"/>
              </a:srgbClr>
            </a:outerShdw>
          </a:effectLst>
        </p:spPr>
      </p:sp>
      <p:sp>
        <p:nvSpPr>
          <p:cNvPr id="26" name="Shape 24"/>
          <p:cNvSpPr/>
          <p:nvPr/>
        </p:nvSpPr>
        <p:spPr>
          <a:xfrm>
            <a:off x="685800" y="3611880"/>
            <a:ext cx="594360" cy="594360"/>
          </a:xfrm>
          <a:prstGeom prst="ellipse">
            <a:avLst/>
          </a:prstGeom>
          <a:solidFill>
            <a:srgbClr val="FFFFFF"/>
          </a:solidFill>
          <a:ln/>
        </p:spPr>
      </p:sp>
      <p:pic>
        <p:nvPicPr>
          <p:cNvPr id="27" name="Image 0" descr="preencoded.png">    </p:cNvPr>
          <p:cNvPicPr>
            <a:picLocks noChangeAspect="1"/>
          </p:cNvPicPr>
          <p:nvPr/>
        </p:nvPicPr>
        <p:blipFill>
          <a:blip r:embed="rId1"/>
          <a:stretch>
            <a:fillRect/>
          </a:stretch>
        </p:blipFill>
        <p:spPr>
          <a:xfrm>
            <a:off x="840334" y="3766414"/>
            <a:ext cx="285293" cy="285293"/>
          </a:xfrm>
          <a:prstGeom prst="rect">
            <a:avLst/>
          </a:prstGeom>
        </p:spPr>
      </p:pic>
      <p:sp>
        <p:nvSpPr>
          <p:cNvPr id="28" name="Text 25"/>
          <p:cNvSpPr/>
          <p:nvPr/>
        </p:nvSpPr>
        <p:spPr>
          <a:xfrm>
            <a:off x="1463040" y="3520440"/>
            <a:ext cx="722376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Amazon Q Data Integration spans all four</a:t>
            </a:r>
            <a:endParaRPr lang="en-US" sz="1300" dirty="0"/>
          </a:p>
        </p:txBody>
      </p:sp>
      <p:sp>
        <p:nvSpPr>
          <p:cNvPr id="29" name="Text 26"/>
          <p:cNvSpPr/>
          <p:nvPr/>
        </p:nvSpPr>
        <p:spPr>
          <a:xfrm>
            <a:off x="1463040" y="3840480"/>
            <a:ext cx="7223760" cy="502920"/>
          </a:xfrm>
          <a:prstGeom prst="rect">
            <a:avLst/>
          </a:prstGeom>
          <a:noFill/>
          <a:ln/>
        </p:spPr>
        <p:txBody>
          <a:bodyPr wrap="square" lIns="0" tIns="0" rIns="0" bIns="0" rtlCol="0" anchor="ctr"/>
          <a:lstStyle/>
          <a:p>
            <a:pPr indent="0" marL="0">
              <a:buNone/>
            </a:pPr>
            <a:r>
              <a:rPr lang="en-US" sz="1050" dirty="0">
                <a:solidFill>
                  <a:srgbClr val="33415C"/>
                </a:solidFill>
                <a:latin typeface="Calibri" pitchFamily="34" charset="0"/>
                <a:ea typeface="Calibri" pitchFamily="34" charset="-122"/>
                <a:cs typeface="Calibri" pitchFamily="34" charset="-120"/>
              </a:rPr>
              <a:t>Describe a pipeline in plain English and Q generates the visual DAG or the PySpark code. A fifth modality layered on top of the others.</a:t>
            </a:r>
            <a:endParaRPr lang="en-US" sz="1050" dirty="0"/>
          </a:p>
        </p:txBody>
      </p:sp>
      <p:sp>
        <p:nvSpPr>
          <p:cNvPr id="31" name="Text 27"/>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AUTHORING MODE 1 OF 5</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No-code: Glue Studio Visual ETL</a:t>
            </a:r>
            <a:endParaRPr lang="en-US" sz="2500" dirty="0"/>
          </a:p>
        </p:txBody>
      </p:sp>
      <p:sp>
        <p:nvSpPr>
          <p:cNvPr id="4" name="Text 2"/>
          <p:cNvSpPr/>
          <p:nvPr/>
        </p:nvSpPr>
        <p:spPr>
          <a:xfrm>
            <a:off x="457200" y="1234440"/>
            <a:ext cx="5394960" cy="3383280"/>
          </a:xfrm>
          <a:prstGeom prst="rect">
            <a:avLst/>
          </a:prstGeom>
          <a:noFill/>
          <a:ln/>
        </p:spPr>
        <p:txBody>
          <a:bodyPr wrap="square" rtlCol="0" anchor="t"/>
          <a:lstStyle/>
          <a:p>
            <a:pPr marL="152400" indent="-152400">
              <a:spcAft>
                <a:spcPts val="1200"/>
              </a:spcAft>
              <a:buSzPct val="100000"/>
              <a:buChar char="•"/>
            </a:pPr>
            <a:r>
              <a:rPr lang="en-US" sz="1200" dirty="0">
                <a:solidFill>
                  <a:srgbClr val="33415C"/>
                </a:solidFill>
                <a:latin typeface="Calibri" pitchFamily="34" charset="0"/>
                <a:ea typeface="Calibri" pitchFamily="34" charset="-122"/>
                <a:cs typeface="Calibri" pitchFamily="34" charset="-120"/>
              </a:rPr>
              <a:t>Drag-and-drop canvas: sources, transforms, and targets as connected nodes.</a:t>
            </a:r>
            <a:endParaRPr lang="en-US" sz="1200" dirty="0"/>
          </a:p>
          <a:p>
            <a:pPr marL="152400" indent="-152400">
              <a:spcAft>
                <a:spcPts val="1200"/>
              </a:spcAft>
              <a:buSzPct val="100000"/>
              <a:buChar char="•"/>
            </a:pPr>
            <a:r>
              <a:rPr lang="en-US" sz="1200" dirty="0">
                <a:solidFill>
                  <a:srgbClr val="33415C"/>
                </a:solidFill>
                <a:latin typeface="Calibri" pitchFamily="34" charset="0"/>
                <a:ea typeface="Calibri" pitchFamily="34" charset="-122"/>
                <a:cs typeface="Calibri" pitchFamily="34" charset="-120"/>
              </a:rPr>
              <a:t>Generates real PySpark underneath. View it, copy it, keep learning from it.</a:t>
            </a:r>
            <a:endParaRPr lang="en-US" sz="1200" dirty="0"/>
          </a:p>
          <a:p>
            <a:pPr marL="152400" indent="-152400">
              <a:spcAft>
                <a:spcPts val="1200"/>
              </a:spcAft>
              <a:buSzPct val="100000"/>
              <a:buChar char="•"/>
            </a:pPr>
            <a:r>
              <a:rPr lang="en-US" sz="1200" dirty="0">
                <a:solidFill>
                  <a:srgbClr val="33415C"/>
                </a:solidFill>
                <a:latin typeface="Calibri" pitchFamily="34" charset="0"/>
                <a:ea typeface="Calibri" pitchFamily="34" charset="-122"/>
                <a:cs typeface="Calibri" pitchFamily="34" charset="-120"/>
              </a:rPr>
              <a:t>Data preview shows live sample rows at every node while you build.</a:t>
            </a:r>
            <a:endParaRPr lang="en-US" sz="1200" dirty="0"/>
          </a:p>
          <a:p>
            <a:pPr marL="152400" indent="-152400">
              <a:spcAft>
                <a:spcPts val="1200"/>
              </a:spcAft>
              <a:buSzPct val="100000"/>
              <a:buChar char="•"/>
            </a:pPr>
            <a:r>
              <a:rPr lang="en-US" sz="1200" dirty="0">
                <a:solidFill>
                  <a:srgbClr val="33415C"/>
                </a:solidFill>
                <a:latin typeface="Calibri" pitchFamily="34" charset="0"/>
                <a:ea typeface="Calibri" pitchFamily="34" charset="-122"/>
                <a:cs typeface="Calibri" pitchFamily="34" charset="-120"/>
              </a:rPr>
              <a:t>Transform palette: filter, join, aggregate, union, SQL node, custom Python node, PII detection.</a:t>
            </a:r>
            <a:endParaRPr lang="en-US" sz="1200" dirty="0"/>
          </a:p>
          <a:p>
            <a:pPr marL="152400" indent="-152400">
              <a:spcAft>
                <a:spcPts val="1200"/>
              </a:spcAft>
              <a:buSzPct val="100000"/>
              <a:buChar char="•"/>
            </a:pPr>
            <a:r>
              <a:rPr lang="en-US" sz="1200" dirty="0">
                <a:solidFill>
                  <a:srgbClr val="33415C"/>
                </a:solidFill>
                <a:latin typeface="Calibri" pitchFamily="34" charset="0"/>
                <a:ea typeface="Calibri" pitchFamily="34" charset="-122"/>
                <a:cs typeface="Calibri" pitchFamily="34" charset="-120"/>
              </a:rPr>
              <a:t>2025 to 2026: Excel sources, single-file output, more compression codecs, and Amazon Q chat that builds the DAG for you.</a:t>
            </a:r>
            <a:endParaRPr lang="en-US" sz="1200" dirty="0"/>
          </a:p>
        </p:txBody>
      </p:sp>
      <p:sp>
        <p:nvSpPr>
          <p:cNvPr id="5" name="Shape 3"/>
          <p:cNvSpPr/>
          <p:nvPr/>
        </p:nvSpPr>
        <p:spPr>
          <a:xfrm>
            <a:off x="6126480" y="1371600"/>
            <a:ext cx="2560320" cy="2926080"/>
          </a:xfrm>
          <a:prstGeom prst="roundRect">
            <a:avLst>
              <a:gd name="adj" fmla="val 2500"/>
            </a:avLst>
          </a:prstGeom>
          <a:solidFill>
            <a:srgbClr val="FBF1E2"/>
          </a:solidFill>
          <a:ln/>
          <a:effectLst>
            <a:outerShdw sx="100000" sy="100000" kx="0" ky="0" algn="bl" rotWithShape="0" blurRad="76200" dist="25400" dir="2700000">
              <a:srgbClr val="000000">
                <a:alpha val="14000"/>
              </a:srgbClr>
            </a:outerShdw>
          </a:effectLst>
        </p:spPr>
      </p:sp>
      <p:sp>
        <p:nvSpPr>
          <p:cNvPr id="6" name="Shape 4"/>
          <p:cNvSpPr/>
          <p:nvPr/>
        </p:nvSpPr>
        <p:spPr>
          <a:xfrm>
            <a:off x="6355080" y="1600200"/>
            <a:ext cx="548640" cy="54864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497726" y="1742846"/>
            <a:ext cx="263347" cy="263347"/>
          </a:xfrm>
          <a:prstGeom prst="rect">
            <a:avLst/>
          </a:prstGeom>
        </p:spPr>
      </p:pic>
      <p:sp>
        <p:nvSpPr>
          <p:cNvPr id="8" name="Text 5"/>
          <p:cNvSpPr/>
          <p:nvPr/>
        </p:nvSpPr>
        <p:spPr>
          <a:xfrm>
            <a:off x="6355080" y="2286000"/>
            <a:ext cx="2103120" cy="5029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You used this today</a:t>
            </a:r>
            <a:endParaRPr lang="en-US" sz="1400" dirty="0"/>
          </a:p>
        </p:txBody>
      </p:sp>
      <p:sp>
        <p:nvSpPr>
          <p:cNvPr id="9" name="Text 6"/>
          <p:cNvSpPr/>
          <p:nvPr/>
        </p:nvSpPr>
        <p:spPr>
          <a:xfrm>
            <a:off x="6355080" y="2834640"/>
            <a:ext cx="2103120" cy="1280160"/>
          </a:xfrm>
          <a:prstGeom prst="rect">
            <a:avLst/>
          </a:prstGeom>
          <a:noFill/>
          <a:ln/>
        </p:spPr>
        <p:txBody>
          <a:bodyPr wrap="square" lIns="0" tIns="0" rIns="0" bIns="0" rtlCol="0" anchor="ctr"/>
          <a:lstStyle/>
          <a:p>
            <a:pPr indent="0" marL="0">
              <a:buNone/>
            </a:pPr>
            <a:r>
              <a:rPr lang="en-US" sz="1050" dirty="0">
                <a:solidFill>
                  <a:srgbClr val="33415C"/>
                </a:solidFill>
                <a:latin typeface="Calibri" pitchFamily="34" charset="0"/>
                <a:ea typeface="Calibri" pitchFamily="34" charset="-122"/>
                <a:cs typeface="Calibri" pitchFamily="34" charset="-120"/>
              </a:rPr>
              <a:t>Your bronze ingest and silver transform jobs are Visual ETL jobs. Everything on this slide should feel familiar.</a:t>
            </a:r>
            <a:endParaRPr lang="en-US" sz="1050" dirty="0"/>
          </a:p>
        </p:txBody>
      </p:sp>
      <p:sp>
        <p:nvSpPr>
          <p:cNvPr id="11" name="Text 7"/>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AUTHORING MODE 2 OF 5</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No-code: Data Preparation (formerly DataBrew)</a:t>
            </a:r>
            <a:endParaRPr lang="en-US" sz="2500" dirty="0"/>
          </a:p>
        </p:txBody>
      </p:sp>
      <p:sp>
        <p:nvSpPr>
          <p:cNvPr id="4" name="Text 2"/>
          <p:cNvSpPr/>
          <p:nvPr/>
        </p:nvSpPr>
        <p:spPr>
          <a:xfrm>
            <a:off x="457200" y="1234440"/>
            <a:ext cx="5394960" cy="3108960"/>
          </a:xfrm>
          <a:prstGeom prst="rect">
            <a:avLst/>
          </a:prstGeom>
          <a:noFill/>
          <a:ln/>
        </p:spPr>
        <p:txBody>
          <a:bodyPr wrap="square" rtlCol="0" anchor="t"/>
          <a:lstStyle/>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Spreadsheet-style grid: click a column, pick a transformation, see the result.</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250+ ready-made transforms: fix nulls, standardize dates, validate emails, mask PII.</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Steps are saved as recipes: versioned, reusable sequences you can apply to any dataset.</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Built-in profiling: column stats and distributions before you clean.</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Absorbed into Glue Studio in July 2024; existing DataBrew recipes import directly.</a:t>
            </a:r>
            <a:endParaRPr lang="en-US" sz="1200" dirty="0"/>
          </a:p>
        </p:txBody>
      </p:sp>
      <p:sp>
        <p:nvSpPr>
          <p:cNvPr id="5" name="Shape 3"/>
          <p:cNvSpPr/>
          <p:nvPr/>
        </p:nvSpPr>
        <p:spPr>
          <a:xfrm>
            <a:off x="6126480" y="1371600"/>
            <a:ext cx="2560320" cy="2926080"/>
          </a:xfrm>
          <a:prstGeom prst="roundRect">
            <a:avLst>
              <a:gd name="adj" fmla="val 2500"/>
            </a:avLst>
          </a:prstGeom>
          <a:solidFill>
            <a:srgbClr val="F4F6FA"/>
          </a:solidFill>
          <a:ln/>
          <a:effectLst>
            <a:outerShdw sx="100000" sy="100000" kx="0" ky="0" algn="bl" rotWithShape="0" blurRad="76200" dist="25400" dir="2700000">
              <a:srgbClr val="000000">
                <a:alpha val="14000"/>
              </a:srgbClr>
            </a:outerShdw>
          </a:effectLst>
        </p:spPr>
      </p:sp>
      <p:sp>
        <p:nvSpPr>
          <p:cNvPr id="6" name="Text 4"/>
          <p:cNvSpPr/>
          <p:nvPr/>
        </p:nvSpPr>
        <p:spPr>
          <a:xfrm>
            <a:off x="6355080" y="1554480"/>
            <a:ext cx="210312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Which no-code tool?</a:t>
            </a:r>
            <a:endParaRPr lang="en-US" sz="1300" dirty="0"/>
          </a:p>
        </p:txBody>
      </p:sp>
      <p:sp>
        <p:nvSpPr>
          <p:cNvPr id="7" name="Text 5"/>
          <p:cNvSpPr/>
          <p:nvPr/>
        </p:nvSpPr>
        <p:spPr>
          <a:xfrm>
            <a:off x="6355080" y="1920240"/>
            <a:ext cx="2103120" cy="2194560"/>
          </a:xfrm>
          <a:prstGeom prst="rect">
            <a:avLst/>
          </a:prstGeom>
          <a:noFill/>
          <a:ln/>
        </p:spPr>
        <p:txBody>
          <a:bodyPr wrap="square" rtlCol="0" anchor="t"/>
          <a:lstStyle/>
          <a:p>
            <a:pPr indent="0" marL="0">
              <a:buNone/>
            </a:pPr>
            <a:r>
              <a:rPr lang="en-US" sz="1050" b="1" dirty="0">
                <a:solidFill>
                  <a:srgbClr val="D97706"/>
                </a:solidFill>
                <a:latin typeface="Calibri" pitchFamily="34" charset="0"/>
                <a:ea typeface="Calibri" pitchFamily="34" charset="-122"/>
                <a:cs typeface="Calibri" pitchFamily="34" charset="-120"/>
              </a:rPr>
              <a:t>Data Preparation</a:t>
            </a:r>
            <a:endParaRPr lang="en-US" sz="1050" dirty="0"/>
          </a:p>
          <a:p>
            <a:pPr indent="0" marL="0">
              <a:spcAft>
                <a:spcPts val="1000"/>
              </a:spcAft>
              <a:buNone/>
            </a:pPr>
            <a:r>
              <a:rPr lang="en-US" sz="1050" dirty="0">
                <a:solidFill>
                  <a:srgbClr val="33415C"/>
                </a:solidFill>
                <a:latin typeface="Calibri" pitchFamily="34" charset="0"/>
                <a:ea typeface="Calibri" pitchFamily="34" charset="-122"/>
                <a:cs typeface="Calibri" pitchFamily="34" charset="-120"/>
              </a:rPr>
              <a:t>Cleansing one dataset, quality fixes, exploration.</a:t>
            </a:r>
            <a:endParaRPr lang="en-US" sz="1050" dirty="0"/>
          </a:p>
          <a:p>
            <a:pPr indent="0" marL="0">
              <a:buNone/>
            </a:pPr>
            <a:r>
              <a:rPr lang="en-US" sz="1050" b="1" dirty="0">
                <a:solidFill>
                  <a:srgbClr val="D97706"/>
                </a:solidFill>
                <a:latin typeface="Calibri" pitchFamily="34" charset="0"/>
                <a:ea typeface="Calibri" pitchFamily="34" charset="-122"/>
                <a:cs typeface="Calibri" pitchFamily="34" charset="-120"/>
              </a:rPr>
              <a:t>Visual ETL</a:t>
            </a:r>
            <a:endParaRPr lang="en-US" sz="1050" dirty="0"/>
          </a:p>
          <a:p>
            <a:pPr indent="0" marL="0">
              <a:buNone/>
            </a:pPr>
            <a:r>
              <a:rPr lang="en-US" sz="1050" dirty="0">
                <a:solidFill>
                  <a:srgbClr val="33415C"/>
                </a:solidFill>
                <a:latin typeface="Calibri" pitchFamily="34" charset="0"/>
                <a:ea typeface="Calibri" pitchFamily="34" charset="-122"/>
                <a:cs typeface="Calibri" pitchFamily="34" charset="-120"/>
              </a:rPr>
              <a:t>Multi-source pipelines, joins, loading lakes and warehouses.</a:t>
            </a:r>
            <a:endParaRPr lang="en-US" sz="1050" dirty="0"/>
          </a:p>
        </p:txBody>
      </p:sp>
      <p:sp>
        <p:nvSpPr>
          <p:cNvPr id="9" name="Text 6"/>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AUTHORING MODE 3 OF 5</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Low-code: Studio Notebooks on Interactive Sessions</a:t>
            </a:r>
            <a:endParaRPr lang="en-US" sz="2500" dirty="0"/>
          </a:p>
        </p:txBody>
      </p:sp>
      <p:sp>
        <p:nvSpPr>
          <p:cNvPr id="4" name="Text 2"/>
          <p:cNvSpPr/>
          <p:nvPr/>
        </p:nvSpPr>
        <p:spPr>
          <a:xfrm>
            <a:off x="457200" y="1234440"/>
            <a:ext cx="5212080" cy="3108960"/>
          </a:xfrm>
          <a:prstGeom prst="rect">
            <a:avLst/>
          </a:prstGeom>
          <a:noFill/>
          <a:ln/>
        </p:spPr>
        <p:txBody>
          <a:bodyPr wrap="square" rtlCol="0" anchor="t"/>
          <a:lstStyle/>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Jupyter notebooks backed by serverless Spark that starts in seconds.</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PySpark only in the console; full DynamicFrame and DataFrame APIs.</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Same engine behind the data preview pane you used in the lab.</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Open kernel works in VS Code and PyCharm; May 2026 adds native Spark Connect for any remote client.</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SageMaker Unified Studio can now use Glue 5.1 as its notebook Spark runtime.</a:t>
            </a:r>
            <a:endParaRPr lang="en-US" sz="1200" dirty="0"/>
          </a:p>
        </p:txBody>
      </p:sp>
      <p:sp>
        <p:nvSpPr>
          <p:cNvPr id="5" name="Shape 3"/>
          <p:cNvSpPr/>
          <p:nvPr/>
        </p:nvSpPr>
        <p:spPr>
          <a:xfrm>
            <a:off x="5943600" y="1371600"/>
            <a:ext cx="2743200" cy="2926080"/>
          </a:xfrm>
          <a:prstGeom prst="roundRect">
            <a:avLst>
              <a:gd name="adj" fmla="val 2333"/>
            </a:avLst>
          </a:prstGeom>
          <a:solidFill>
            <a:srgbClr val="1E2761"/>
          </a:solidFill>
          <a:ln/>
          <a:effectLst>
            <a:outerShdw sx="100000" sy="100000" kx="0" ky="0" algn="bl" rotWithShape="0" blurRad="76200" dist="25400" dir="2700000">
              <a:srgbClr val="000000">
                <a:alpha val="14000"/>
              </a:srgbClr>
            </a:outerShdw>
          </a:effectLst>
        </p:spPr>
      </p:sp>
      <p:sp>
        <p:nvSpPr>
          <p:cNvPr id="6" name="Text 4"/>
          <p:cNvSpPr/>
          <p:nvPr/>
        </p:nvSpPr>
        <p:spPr>
          <a:xfrm>
            <a:off x="6172200" y="1536192"/>
            <a:ext cx="2286000" cy="27432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Session magics</a:t>
            </a:r>
            <a:endParaRPr lang="en-US" sz="1200" dirty="0"/>
          </a:p>
        </p:txBody>
      </p:sp>
      <p:sp>
        <p:nvSpPr>
          <p:cNvPr id="7" name="Text 5"/>
          <p:cNvSpPr/>
          <p:nvPr/>
        </p:nvSpPr>
        <p:spPr>
          <a:xfrm>
            <a:off x="6172200" y="1920240"/>
            <a:ext cx="2377440" cy="2194560"/>
          </a:xfrm>
          <a:prstGeom prst="rect">
            <a:avLst/>
          </a:prstGeom>
          <a:noFill/>
          <a:ln/>
        </p:spPr>
        <p:txBody>
          <a:bodyPr wrap="square" rtlCol="0" anchor="t"/>
          <a:lstStyle/>
          <a:p>
            <a:pPr indent="0" marL="0">
              <a:lnSpc>
                <a:spcPts val="2000"/>
              </a:lnSpc>
              <a:buNone/>
            </a:pPr>
            <a:r>
              <a:rPr lang="en-US" sz="1100" dirty="0">
                <a:solidFill>
                  <a:srgbClr val="FFFFFF"/>
                </a:solidFill>
                <a:latin typeface="Courier New" pitchFamily="34" charset="0"/>
                <a:ea typeface="Courier New" pitchFamily="34" charset="-122"/>
                <a:cs typeface="Courier New" pitchFamily="34" charset="-120"/>
              </a:rPr>
              <a:t>%glue_version 5.1</a:t>
            </a:r>
            <a:endParaRPr lang="en-US" sz="1100" dirty="0"/>
          </a:p>
          <a:p>
            <a:pPr indent="0" marL="0">
              <a:lnSpc>
                <a:spcPts val="2000"/>
              </a:lnSpc>
              <a:buNone/>
            </a:pPr>
            <a:r>
              <a:rPr lang="en-US" sz="1100" dirty="0">
                <a:solidFill>
                  <a:srgbClr val="FFFFFF"/>
                </a:solidFill>
                <a:latin typeface="Courier New" pitchFamily="34" charset="0"/>
                <a:ea typeface="Courier New" pitchFamily="34" charset="-122"/>
                <a:cs typeface="Courier New" pitchFamily="34" charset="-120"/>
              </a:rPr>
              <a:t>%worker_type G.1X</a:t>
            </a:r>
            <a:endParaRPr lang="en-US" sz="1100" dirty="0"/>
          </a:p>
          <a:p>
            <a:pPr indent="0" marL="0">
              <a:lnSpc>
                <a:spcPts val="2000"/>
              </a:lnSpc>
              <a:buNone/>
            </a:pPr>
            <a:r>
              <a:rPr lang="en-US" sz="1100" dirty="0">
                <a:solidFill>
                  <a:srgbClr val="FFFFFF"/>
                </a:solidFill>
                <a:latin typeface="Courier New" pitchFamily="34" charset="0"/>
                <a:ea typeface="Courier New" pitchFamily="34" charset="-122"/>
                <a:cs typeface="Courier New" pitchFamily="34" charset="-120"/>
              </a:rPr>
              <a:t>%number_of_workers 2</a:t>
            </a:r>
            <a:endParaRPr lang="en-US" sz="1100" dirty="0"/>
          </a:p>
          <a:p>
            <a:pPr indent="0" marL="0">
              <a:lnSpc>
                <a:spcPts val="2000"/>
              </a:lnSpc>
              <a:buNone/>
            </a:pPr>
            <a:r>
              <a:rPr lang="en-US" sz="1100" dirty="0">
                <a:solidFill>
                  <a:srgbClr val="FFFFFF"/>
                </a:solidFill>
                <a:latin typeface="Courier New" pitchFamily="34" charset="0"/>
                <a:ea typeface="Courier New" pitchFamily="34" charset="-122"/>
                <a:cs typeface="Courier New" pitchFamily="34" charset="-120"/>
              </a:rPr>
              <a:t>%additional_python_modules</a:t>
            </a:r>
            <a:endParaRPr lang="en-US" sz="1100" dirty="0"/>
          </a:p>
          <a:p>
            <a:pPr indent="0" marL="0">
              <a:lnSpc>
                <a:spcPts val="2000"/>
              </a:lnSpc>
              <a:buNone/>
            </a:pPr>
            <a:r>
              <a:rPr lang="en-US" sz="1100" dirty="0">
                <a:solidFill>
                  <a:srgbClr val="FFFFFF"/>
                </a:solidFill>
                <a:latin typeface="Courier New" pitchFamily="34" charset="0"/>
                <a:ea typeface="Courier New" pitchFamily="34" charset="-122"/>
                <a:cs typeface="Courier New" pitchFamily="34" charset="-120"/>
              </a:rPr>
              <a:t>%idle_timeout 30</a:t>
            </a:r>
            <a:endParaRPr lang="en-US" sz="1100" dirty="0"/>
          </a:p>
          <a:p>
            <a:pPr indent="0" marL="0">
              <a:lnSpc>
                <a:spcPts val="2000"/>
              </a:lnSpc>
              <a:buNone/>
            </a:pPr>
            <a:r>
              <a:rPr lang="en-US" sz="1100" dirty="0">
                <a:solidFill>
                  <a:srgbClr val="FFFFFF"/>
                </a:solidFill>
                <a:latin typeface="Courier New" pitchFamily="34" charset="0"/>
                <a:ea typeface="Courier New" pitchFamily="34" charset="-122"/>
                <a:cs typeface="Courier New" pitchFamily="34" charset="-120"/>
              </a:rPr>
              <a:t>%stop_session</a:t>
            </a:r>
            <a:endParaRPr lang="en-US" sz="1100" dirty="0"/>
          </a:p>
        </p:txBody>
      </p:sp>
      <p:sp>
        <p:nvSpPr>
          <p:cNvPr id="9" name="Text 6"/>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AUTHORING MODE 4 OF 5</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Code-first: PySpark and Scala scripts</a:t>
            </a:r>
            <a:endParaRPr lang="en-US" sz="2500" dirty="0"/>
          </a:p>
        </p:txBody>
      </p:sp>
      <p:sp>
        <p:nvSpPr>
          <p:cNvPr id="4" name="Shape 2"/>
          <p:cNvSpPr/>
          <p:nvPr/>
        </p:nvSpPr>
        <p:spPr>
          <a:xfrm>
            <a:off x="457200" y="1234440"/>
            <a:ext cx="5029200" cy="3200400"/>
          </a:xfrm>
          <a:prstGeom prst="roundRect">
            <a:avLst>
              <a:gd name="adj" fmla="val 2000"/>
            </a:avLst>
          </a:prstGeom>
          <a:solidFill>
            <a:srgbClr val="1E2761"/>
          </a:solidFill>
          <a:ln/>
          <a:effectLst>
            <a:outerShdw sx="100000" sy="100000" kx="0" ky="0" algn="bl" rotWithShape="0" blurRad="76200" dist="25400" dir="2700000">
              <a:srgbClr val="000000">
                <a:alpha val="14000"/>
              </a:srgbClr>
            </a:outerShdw>
          </a:effectLst>
        </p:spPr>
      </p:sp>
      <p:sp>
        <p:nvSpPr>
          <p:cNvPr id="5" name="Text 3"/>
          <p:cNvSpPr/>
          <p:nvPr/>
        </p:nvSpPr>
        <p:spPr>
          <a:xfrm>
            <a:off x="685800" y="1417320"/>
            <a:ext cx="4663440" cy="2880360"/>
          </a:xfrm>
          <a:prstGeom prst="rect">
            <a:avLst/>
          </a:prstGeom>
          <a:noFill/>
          <a:ln/>
        </p:spPr>
        <p:txBody>
          <a:bodyPr wrap="square" rtlCol="0" anchor="t"/>
          <a:lstStyle/>
          <a:p>
            <a:pPr indent="0" marL="0">
              <a:lnSpc>
                <a:spcPts val="1400"/>
              </a:lnSpc>
              <a:buNone/>
            </a:pPr>
            <a:r>
              <a:rPr lang="en-US" sz="1000" dirty="0">
                <a:solidFill>
                  <a:srgbClr val="D8E4F8"/>
                </a:solidFill>
                <a:latin typeface="Courier New" pitchFamily="34" charset="0"/>
                <a:ea typeface="Courier New" pitchFamily="34" charset="-122"/>
                <a:cs typeface="Courier New" pitchFamily="34" charset="-120"/>
              </a:rPr>
              <a:t>from awsglue.context import GlueContext</a:t>
            </a:r>
            <a:endParaRPr lang="en-US" sz="1000" dirty="0"/>
          </a:p>
          <a:p>
            <a:pPr indent="0" marL="0">
              <a:lnSpc>
                <a:spcPts val="1400"/>
              </a:lnSpc>
              <a:buNone/>
            </a:pPr>
            <a:r>
              <a:rPr lang="en-US" sz="1000" dirty="0">
                <a:solidFill>
                  <a:srgbClr val="D8E4F8"/>
                </a:solidFill>
                <a:latin typeface="Courier New" pitchFamily="34" charset="0"/>
                <a:ea typeface="Courier New" pitchFamily="34" charset="-122"/>
                <a:cs typeface="Courier New" pitchFamily="34" charset="-120"/>
              </a:rPr>
              <a:t>glueContext = GlueContext(sc)</a:t>
            </a:r>
            <a:endParaRPr lang="en-US" sz="1000" dirty="0"/>
          </a:p>
          <a:p>
            <a:pPr indent="0" marL="0">
              <a:lnSpc>
                <a:spcPts val="1400"/>
              </a:lnSpc>
              <a:buNone/>
            </a:pPr>
            <a:endParaRPr lang="en-US" sz="1000" dirty="0"/>
          </a:p>
          <a:p>
            <a:pPr indent="0" marL="0">
              <a:lnSpc>
                <a:spcPts val="1400"/>
              </a:lnSpc>
              <a:buNone/>
            </a:pPr>
            <a:r>
              <a:rPr lang="en-US" sz="1000" dirty="0">
                <a:solidFill>
                  <a:srgbClr val="D8E4F8"/>
                </a:solidFill>
                <a:latin typeface="Courier New" pitchFamily="34" charset="0"/>
                <a:ea typeface="Courier New" pitchFamily="34" charset="-122"/>
                <a:cs typeface="Courier New" pitchFamily="34" charset="-120"/>
              </a:rPr>
              <a:t>dyf = glueContext.create_dynamic_frame \</a:t>
            </a:r>
            <a:endParaRPr lang="en-US" sz="1000" dirty="0"/>
          </a:p>
          <a:p>
            <a:pPr indent="0" marL="0">
              <a:lnSpc>
                <a:spcPts val="1400"/>
              </a:lnSpc>
              <a:buNone/>
            </a:pPr>
            <a:r>
              <a:rPr lang="en-US" sz="1000" dirty="0">
                <a:solidFill>
                  <a:srgbClr val="D8E4F8"/>
                </a:solidFill>
                <a:latin typeface="Courier New" pitchFamily="34" charset="0"/>
                <a:ea typeface="Courier New" pitchFamily="34" charset="-122"/>
                <a:cs typeface="Courier New" pitchFamily="34" charset="-120"/>
              </a:rPr>
              <a:t>  .from_catalog(database="my_db",</a:t>
            </a:r>
            <a:endParaRPr lang="en-US" sz="1000" dirty="0"/>
          </a:p>
          <a:p>
            <a:pPr indent="0" marL="0">
              <a:lnSpc>
                <a:spcPts val="1400"/>
              </a:lnSpc>
              <a:buNone/>
            </a:pPr>
            <a:r>
              <a:rPr lang="en-US" sz="1000" dirty="0">
                <a:solidFill>
                  <a:srgbClr val="D8E4F8"/>
                </a:solidFill>
                <a:latin typeface="Courier New" pitchFamily="34" charset="0"/>
                <a:ea typeface="Courier New" pitchFamily="34" charset="-122"/>
                <a:cs typeface="Courier New" pitchFamily="34" charset="-120"/>
              </a:rPr>
              <a:t>                table_name="my_table")</a:t>
            </a:r>
            <a:endParaRPr lang="en-US" sz="1000" dirty="0"/>
          </a:p>
          <a:p>
            <a:pPr indent="0" marL="0">
              <a:lnSpc>
                <a:spcPts val="1400"/>
              </a:lnSpc>
              <a:buNone/>
            </a:pPr>
            <a:endParaRPr lang="en-US" sz="1000" dirty="0"/>
          </a:p>
          <a:p>
            <a:pPr indent="0" marL="0">
              <a:lnSpc>
                <a:spcPts val="1400"/>
              </a:lnSpc>
              <a:buNone/>
            </a:pPr>
            <a:r>
              <a:rPr lang="en-US" sz="1000" dirty="0">
                <a:solidFill>
                  <a:srgbClr val="D8E4F8"/>
                </a:solidFill>
                <a:latin typeface="Courier New" pitchFamily="34" charset="0"/>
                <a:ea typeface="Courier New" pitchFamily="34" charset="-122"/>
                <a:cs typeface="Courier New" pitchFamily="34" charset="-120"/>
              </a:rPr>
              <a:t>clean = DropNullFields.apply(dyf)</a:t>
            </a:r>
            <a:endParaRPr lang="en-US" sz="1000" dirty="0"/>
          </a:p>
          <a:p>
            <a:pPr indent="0" marL="0">
              <a:lnSpc>
                <a:spcPts val="1400"/>
              </a:lnSpc>
              <a:buNone/>
            </a:pPr>
            <a:endParaRPr lang="en-US" sz="1000" dirty="0"/>
          </a:p>
          <a:p>
            <a:pPr indent="0" marL="0">
              <a:lnSpc>
                <a:spcPts val="1400"/>
              </a:lnSpc>
              <a:buNone/>
            </a:pPr>
            <a:r>
              <a:rPr lang="en-US" sz="1000" dirty="0">
                <a:solidFill>
                  <a:srgbClr val="D8E4F8"/>
                </a:solidFill>
                <a:latin typeface="Courier New" pitchFamily="34" charset="0"/>
                <a:ea typeface="Courier New" pitchFamily="34" charset="-122"/>
                <a:cs typeface="Courier New" pitchFamily="34" charset="-120"/>
              </a:rPr>
              <a:t>glueContext.write_dynamic_frame \</a:t>
            </a:r>
            <a:endParaRPr lang="en-US" sz="1000" dirty="0"/>
          </a:p>
          <a:p>
            <a:pPr indent="0" marL="0">
              <a:lnSpc>
                <a:spcPts val="1400"/>
              </a:lnSpc>
              <a:buNone/>
            </a:pPr>
            <a:r>
              <a:rPr lang="en-US" sz="1000" dirty="0">
                <a:solidFill>
                  <a:srgbClr val="D8E4F8"/>
                </a:solidFill>
                <a:latin typeface="Courier New" pitchFamily="34" charset="0"/>
                <a:ea typeface="Courier New" pitchFamily="34" charset="-122"/>
                <a:cs typeface="Courier New" pitchFamily="34" charset="-120"/>
              </a:rPr>
              <a:t>  .from_options(frame=clean,</a:t>
            </a:r>
            <a:endParaRPr lang="en-US" sz="1000" dirty="0"/>
          </a:p>
          <a:p>
            <a:pPr indent="0" marL="0">
              <a:lnSpc>
                <a:spcPts val="1400"/>
              </a:lnSpc>
              <a:buNone/>
            </a:pPr>
            <a:r>
              <a:rPr lang="en-US" sz="1000" dirty="0">
                <a:solidFill>
                  <a:srgbClr val="D8E4F8"/>
                </a:solidFill>
                <a:latin typeface="Courier New" pitchFamily="34" charset="0"/>
                <a:ea typeface="Courier New" pitchFamily="34" charset="-122"/>
                <a:cs typeface="Courier New" pitchFamily="34" charset="-120"/>
              </a:rPr>
              <a:t>    connection_type="s3",</a:t>
            </a:r>
            <a:endParaRPr lang="en-US" sz="1000" dirty="0"/>
          </a:p>
          <a:p>
            <a:pPr indent="0" marL="0">
              <a:lnSpc>
                <a:spcPts val="1400"/>
              </a:lnSpc>
              <a:buNone/>
            </a:pPr>
            <a:r>
              <a:rPr lang="en-US" sz="1000" dirty="0">
                <a:solidFill>
                  <a:srgbClr val="D8E4F8"/>
                </a:solidFill>
                <a:latin typeface="Courier New" pitchFamily="34" charset="0"/>
                <a:ea typeface="Courier New" pitchFamily="34" charset="-122"/>
                <a:cs typeface="Courier New" pitchFamily="34" charset="-120"/>
              </a:rPr>
              <a:t>    connection_options={"path": "s3://out/"},</a:t>
            </a:r>
            <a:endParaRPr lang="en-US" sz="1000" dirty="0"/>
          </a:p>
          <a:p>
            <a:pPr indent="0" marL="0">
              <a:lnSpc>
                <a:spcPts val="1400"/>
              </a:lnSpc>
              <a:buNone/>
            </a:pPr>
            <a:r>
              <a:rPr lang="en-US" sz="1000" dirty="0">
                <a:solidFill>
                  <a:srgbClr val="D8E4F8"/>
                </a:solidFill>
                <a:latin typeface="Courier New" pitchFamily="34" charset="0"/>
                <a:ea typeface="Courier New" pitchFamily="34" charset="-122"/>
                <a:cs typeface="Courier New" pitchFamily="34" charset="-120"/>
              </a:rPr>
              <a:t>    format="parquet")</a:t>
            </a:r>
            <a:endParaRPr lang="en-US" sz="1000" dirty="0"/>
          </a:p>
        </p:txBody>
      </p:sp>
      <p:sp>
        <p:nvSpPr>
          <p:cNvPr id="6" name="Text 4"/>
          <p:cNvSpPr/>
          <p:nvPr/>
        </p:nvSpPr>
        <p:spPr>
          <a:xfrm>
            <a:off x="5760720" y="1280160"/>
            <a:ext cx="292608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Worker types (pick your muscle)</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60720" y="1645920"/>
          <a:ext cx="2971800" cy="914400"/>
        </p:xfrm>
        <a:graphic>
          <a:graphicData uri="http://schemas.openxmlformats.org/drawingml/2006/table">
            <a:tbl>
              <a:tblPr/>
              <a:tblGrid>
                <a:gridCol w="960120"/>
                <a:gridCol w="1097280"/>
                <a:gridCol w="914400"/>
              </a:tblGrid>
              <a:tr h="29260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Type</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Specs</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Use</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r>
              <a:tr h="292608">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G.025X</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2 vCPU, 4 GB</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24/7 streaming</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92608">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G.1X</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4 vCPU, 16 GB</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Default batch</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92608">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G.2X to G.16X</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up to 256 GB</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Wide joins, ML</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92608">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R series</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2x memory</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950" dirty="0">
                          <a:solidFill>
                            <a:srgbClr val="33415C"/>
                          </a:solidFill>
                          <a:latin typeface="Calibri" pitchFamily="34" charset="0"/>
                          <a:ea typeface="Calibri" pitchFamily="34" charset="-122"/>
                          <a:cs typeface="Calibri" pitchFamily="34" charset="-120"/>
                        </a:rPr>
                        <a:t>Memory heavy</a:t>
                      </a:r>
                      <a:endParaRPr lang="en-US" sz="9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bl>
          </a:graphicData>
        </a:graphic>
      </p:graphicFrame>
      <p:sp>
        <p:nvSpPr>
          <p:cNvPr id="8" name="Text 5"/>
          <p:cNvSpPr/>
          <p:nvPr/>
        </p:nvSpPr>
        <p:spPr>
          <a:xfrm>
            <a:off x="5760720" y="3429000"/>
            <a:ext cx="2971800" cy="8229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Auto Scaling adjusts worker count mid-run. Your lab jobs pinned 2 x G.1X on purpose.</a:t>
            </a:r>
            <a:endParaRPr lang="en-US" sz="1000" dirty="0"/>
          </a:p>
        </p:txBody>
      </p:sp>
      <p:sp>
        <p:nvSpPr>
          <p:cNvPr id="10" name="Text 6"/>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AUTHORING MODE 5 OF 5</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AI-assisted: Amazon Q Data Integration</a:t>
            </a:r>
            <a:endParaRPr lang="en-US" sz="2500" dirty="0"/>
          </a:p>
        </p:txBody>
      </p:sp>
      <p:sp>
        <p:nvSpPr>
          <p:cNvPr id="4" name="Shape 2"/>
          <p:cNvSpPr/>
          <p:nvPr/>
        </p:nvSpPr>
        <p:spPr>
          <a:xfrm>
            <a:off x="457200" y="1234440"/>
            <a:ext cx="4023360" cy="1371600"/>
          </a:xfrm>
          <a:prstGeom prst="roundRect">
            <a:avLst>
              <a:gd name="adj" fmla="val 4667"/>
            </a:avLst>
          </a:prstGeom>
          <a:solidFill>
            <a:srgbClr val="FBF1E2"/>
          </a:solidFill>
          <a:ln/>
          <a:effectLst>
            <a:outerShdw sx="100000" sy="100000" kx="0" ky="0" algn="bl" rotWithShape="0" blurRad="76200" dist="25400" dir="2700000">
              <a:srgbClr val="000000">
                <a:alpha val="14000"/>
              </a:srgbClr>
            </a:outerShdw>
          </a:effectLst>
        </p:spPr>
      </p:sp>
      <p:sp>
        <p:nvSpPr>
          <p:cNvPr id="5" name="Shape 3"/>
          <p:cNvSpPr/>
          <p:nvPr/>
        </p:nvSpPr>
        <p:spPr>
          <a:xfrm>
            <a:off x="640080" y="1417320"/>
            <a:ext cx="502920" cy="50292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770839" y="1548079"/>
            <a:ext cx="241402" cy="241402"/>
          </a:xfrm>
          <a:prstGeom prst="rect">
            <a:avLst/>
          </a:prstGeom>
        </p:spPr>
      </p:pic>
      <p:sp>
        <p:nvSpPr>
          <p:cNvPr id="7" name="Text 4"/>
          <p:cNvSpPr/>
          <p:nvPr/>
        </p:nvSpPr>
        <p:spPr>
          <a:xfrm>
            <a:off x="1325880" y="138074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Generate</a:t>
            </a:r>
            <a:endParaRPr lang="en-US" sz="1300" dirty="0"/>
          </a:p>
        </p:txBody>
      </p:sp>
      <p:sp>
        <p:nvSpPr>
          <p:cNvPr id="8" name="Text 5"/>
          <p:cNvSpPr/>
          <p:nvPr/>
        </p:nvSpPr>
        <p:spPr>
          <a:xfrm>
            <a:off x="1325880" y="1673352"/>
            <a:ext cx="3017520" cy="822960"/>
          </a:xfrm>
          <a:prstGeom prst="rect">
            <a:avLst/>
          </a:prstGeom>
          <a:noFill/>
          <a:ln/>
        </p:spPr>
        <p:txBody>
          <a:bodyPr wrap="square" lIns="0" tIns="0" rIns="0" bIns="0" rtlCol="0" anchor="ctr"/>
          <a:lstStyle/>
          <a:p>
            <a:pPr indent="0" marL="0">
              <a:buNone/>
            </a:pPr>
            <a:r>
              <a:rPr lang="en-US" sz="1050" dirty="0">
                <a:solidFill>
                  <a:srgbClr val="33415C"/>
                </a:solidFill>
                <a:latin typeface="Calibri" pitchFamily="34" charset="0"/>
                <a:ea typeface="Calibri" pitchFamily="34" charset="-122"/>
                <a:cs typeface="Calibri" pitchFamily="34" charset="-120"/>
              </a:rPr>
              <a:t>Describe the pipeline in English, receive a runnable Glue job with config.</a:t>
            </a:r>
            <a:endParaRPr lang="en-US" sz="1050" dirty="0"/>
          </a:p>
        </p:txBody>
      </p:sp>
      <p:sp>
        <p:nvSpPr>
          <p:cNvPr id="9" name="Shape 6"/>
          <p:cNvSpPr/>
          <p:nvPr/>
        </p:nvSpPr>
        <p:spPr>
          <a:xfrm>
            <a:off x="4709160" y="1234440"/>
            <a:ext cx="4023360" cy="1371600"/>
          </a:xfrm>
          <a:prstGeom prst="roundRect">
            <a:avLst>
              <a:gd name="adj" fmla="val 4667"/>
            </a:avLst>
          </a:prstGeom>
          <a:solidFill>
            <a:srgbClr val="F4F6FA"/>
          </a:solidFill>
          <a:ln/>
          <a:effectLst>
            <a:outerShdw sx="100000" sy="100000" kx="0" ky="0" algn="bl" rotWithShape="0" blurRad="76200" dist="25400" dir="2700000">
              <a:srgbClr val="000000">
                <a:alpha val="14000"/>
              </a:srgbClr>
            </a:outerShdw>
          </a:effectLst>
        </p:spPr>
      </p:sp>
      <p:sp>
        <p:nvSpPr>
          <p:cNvPr id="10" name="Shape 7"/>
          <p:cNvSpPr/>
          <p:nvPr/>
        </p:nvSpPr>
        <p:spPr>
          <a:xfrm>
            <a:off x="4892040" y="1417320"/>
            <a:ext cx="502920" cy="50292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5022799" y="1548079"/>
            <a:ext cx="241402" cy="241402"/>
          </a:xfrm>
          <a:prstGeom prst="rect">
            <a:avLst/>
          </a:prstGeom>
        </p:spPr>
      </p:pic>
      <p:sp>
        <p:nvSpPr>
          <p:cNvPr id="12" name="Text 8"/>
          <p:cNvSpPr/>
          <p:nvPr/>
        </p:nvSpPr>
        <p:spPr>
          <a:xfrm>
            <a:off x="5577840" y="138074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Refine visually</a:t>
            </a:r>
            <a:endParaRPr lang="en-US" sz="1300" dirty="0"/>
          </a:p>
        </p:txBody>
      </p:sp>
      <p:sp>
        <p:nvSpPr>
          <p:cNvPr id="13" name="Text 9"/>
          <p:cNvSpPr/>
          <p:nvPr/>
        </p:nvSpPr>
        <p:spPr>
          <a:xfrm>
            <a:off x="5577840" y="1673352"/>
            <a:ext cx="3017520" cy="822960"/>
          </a:xfrm>
          <a:prstGeom prst="rect">
            <a:avLst/>
          </a:prstGeom>
          <a:noFill/>
          <a:ln/>
        </p:spPr>
        <p:txBody>
          <a:bodyPr wrap="square" lIns="0" tIns="0" rIns="0" bIns="0" rtlCol="0" anchor="ctr"/>
          <a:lstStyle/>
          <a:p>
            <a:pPr indent="0" marL="0">
              <a:buNone/>
            </a:pPr>
            <a:r>
              <a:rPr lang="en-US" sz="1050" dirty="0">
                <a:solidFill>
                  <a:srgbClr val="33415C"/>
                </a:solidFill>
                <a:latin typeface="Calibri" pitchFamily="34" charset="0"/>
                <a:ea typeface="Calibri" pitchFamily="34" charset="-122"/>
                <a:cs typeface="Calibri" pitchFamily="34" charset="-120"/>
              </a:rPr>
              <a:t>Chat adds, edits, or removes nodes on the Visual ETL canvas, multi-turn.</a:t>
            </a:r>
            <a:endParaRPr lang="en-US" sz="1050" dirty="0"/>
          </a:p>
        </p:txBody>
      </p:sp>
      <p:sp>
        <p:nvSpPr>
          <p:cNvPr id="14" name="Shape 10"/>
          <p:cNvSpPr/>
          <p:nvPr/>
        </p:nvSpPr>
        <p:spPr>
          <a:xfrm>
            <a:off x="457200" y="2743200"/>
            <a:ext cx="4023360" cy="1371600"/>
          </a:xfrm>
          <a:prstGeom prst="roundRect">
            <a:avLst>
              <a:gd name="adj" fmla="val 4667"/>
            </a:avLst>
          </a:prstGeom>
          <a:solidFill>
            <a:srgbClr val="FBF1E2"/>
          </a:solidFill>
          <a:ln/>
          <a:effectLst>
            <a:outerShdw sx="100000" sy="100000" kx="0" ky="0" algn="bl" rotWithShape="0" blurRad="76200" dist="25400" dir="2700000">
              <a:srgbClr val="000000">
                <a:alpha val="14000"/>
              </a:srgbClr>
            </a:outerShdw>
          </a:effectLst>
        </p:spPr>
      </p:sp>
      <p:sp>
        <p:nvSpPr>
          <p:cNvPr id="15" name="Shape 11"/>
          <p:cNvSpPr/>
          <p:nvPr/>
        </p:nvSpPr>
        <p:spPr>
          <a:xfrm>
            <a:off x="640080" y="2926080"/>
            <a:ext cx="502920" cy="50292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770839" y="3056839"/>
            <a:ext cx="241402" cy="241402"/>
          </a:xfrm>
          <a:prstGeom prst="rect">
            <a:avLst/>
          </a:prstGeom>
        </p:spPr>
      </p:pic>
      <p:sp>
        <p:nvSpPr>
          <p:cNvPr id="17" name="Text 12"/>
          <p:cNvSpPr/>
          <p:nvPr/>
        </p:nvSpPr>
        <p:spPr>
          <a:xfrm>
            <a:off x="1325880" y="288950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Troubleshoot</a:t>
            </a:r>
            <a:endParaRPr lang="en-US" sz="1300" dirty="0"/>
          </a:p>
        </p:txBody>
      </p:sp>
      <p:sp>
        <p:nvSpPr>
          <p:cNvPr id="18" name="Text 13"/>
          <p:cNvSpPr/>
          <p:nvPr/>
        </p:nvSpPr>
        <p:spPr>
          <a:xfrm>
            <a:off x="1325880" y="3182112"/>
            <a:ext cx="3017520" cy="822960"/>
          </a:xfrm>
          <a:prstGeom prst="rect">
            <a:avLst/>
          </a:prstGeom>
          <a:noFill/>
          <a:ln/>
        </p:spPr>
        <p:txBody>
          <a:bodyPr wrap="square" lIns="0" tIns="0" rIns="0" bIns="0" rtlCol="0" anchor="ctr"/>
          <a:lstStyle/>
          <a:p>
            <a:pPr indent="0" marL="0">
              <a:buNone/>
            </a:pPr>
            <a:r>
              <a:rPr lang="en-US" sz="1050" dirty="0">
                <a:solidFill>
                  <a:srgbClr val="33415C"/>
                </a:solidFill>
                <a:latin typeface="Calibri" pitchFamily="34" charset="0"/>
                <a:ea typeface="Calibri" pitchFamily="34" charset="-122"/>
                <a:cs typeface="Calibri" pitchFamily="34" charset="-120"/>
              </a:rPr>
              <a:t>Reads run logs and metadata, returns root cause and a fix, minutes not days.</a:t>
            </a:r>
            <a:endParaRPr lang="en-US" sz="1050" dirty="0"/>
          </a:p>
        </p:txBody>
      </p:sp>
      <p:sp>
        <p:nvSpPr>
          <p:cNvPr id="19" name="Shape 14"/>
          <p:cNvSpPr/>
          <p:nvPr/>
        </p:nvSpPr>
        <p:spPr>
          <a:xfrm>
            <a:off x="4709160" y="2743200"/>
            <a:ext cx="4023360" cy="1371600"/>
          </a:xfrm>
          <a:prstGeom prst="roundRect">
            <a:avLst>
              <a:gd name="adj" fmla="val 4667"/>
            </a:avLst>
          </a:prstGeom>
          <a:solidFill>
            <a:srgbClr val="F4F6FA"/>
          </a:solidFill>
          <a:ln/>
          <a:effectLst>
            <a:outerShdw sx="100000" sy="100000" kx="0" ky="0" algn="bl" rotWithShape="0" blurRad="76200" dist="25400" dir="2700000">
              <a:srgbClr val="000000">
                <a:alpha val="14000"/>
              </a:srgbClr>
            </a:outerShdw>
          </a:effectLst>
        </p:spPr>
      </p:sp>
      <p:sp>
        <p:nvSpPr>
          <p:cNvPr id="20" name="Shape 15"/>
          <p:cNvSpPr/>
          <p:nvPr/>
        </p:nvSpPr>
        <p:spPr>
          <a:xfrm>
            <a:off x="4892040" y="2926080"/>
            <a:ext cx="502920" cy="50292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5022799" y="3056839"/>
            <a:ext cx="241402" cy="241402"/>
          </a:xfrm>
          <a:prstGeom prst="rect">
            <a:avLst/>
          </a:prstGeom>
        </p:spPr>
      </p:pic>
      <p:sp>
        <p:nvSpPr>
          <p:cNvPr id="22" name="Text 16"/>
          <p:cNvSpPr/>
          <p:nvPr/>
        </p:nvSpPr>
        <p:spPr>
          <a:xfrm>
            <a:off x="5577840" y="288950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Upgrade Spark</a:t>
            </a:r>
            <a:endParaRPr lang="en-US" sz="1300" dirty="0"/>
          </a:p>
        </p:txBody>
      </p:sp>
      <p:sp>
        <p:nvSpPr>
          <p:cNvPr id="23" name="Text 17"/>
          <p:cNvSpPr/>
          <p:nvPr/>
        </p:nvSpPr>
        <p:spPr>
          <a:xfrm>
            <a:off x="5577840" y="3182112"/>
            <a:ext cx="3017520" cy="822960"/>
          </a:xfrm>
          <a:prstGeom prst="rect">
            <a:avLst/>
          </a:prstGeom>
          <a:noFill/>
          <a:ln/>
        </p:spPr>
        <p:txBody>
          <a:bodyPr wrap="square" lIns="0" tIns="0" rIns="0" bIns="0" rtlCol="0" anchor="ctr"/>
          <a:lstStyle/>
          <a:p>
            <a:pPr indent="0" marL="0">
              <a:buNone/>
            </a:pPr>
            <a:r>
              <a:rPr lang="en-US" sz="1050" dirty="0">
                <a:solidFill>
                  <a:srgbClr val="33415C"/>
                </a:solidFill>
                <a:latin typeface="Calibri" pitchFamily="34" charset="0"/>
                <a:ea typeface="Calibri" pitchFamily="34" charset="-122"/>
                <a:cs typeface="Calibri" pitchFamily="34" charset="-120"/>
              </a:rPr>
              <a:t>Finds API and behavior changes when moving jobs from Spark 2.4 to 3.5.</a:t>
            </a:r>
            <a:endParaRPr lang="en-US" sz="1050" dirty="0"/>
          </a:p>
        </p:txBody>
      </p:sp>
      <p:sp>
        <p:nvSpPr>
          <p:cNvPr id="24" name="Text 18"/>
          <p:cNvSpPr/>
          <p:nvPr/>
        </p:nvSpPr>
        <p:spPr>
          <a:xfrm>
            <a:off x="457200" y="4343400"/>
            <a:ext cx="8229600" cy="320040"/>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Code generation is PySpark only (no Scala). Available in the Glue console and SageMaker Unified Studio.</a:t>
            </a:r>
            <a:endParaRPr lang="en-US" sz="1100" dirty="0"/>
          </a:p>
        </p:txBody>
      </p:sp>
      <p:sp>
        <p:nvSpPr>
          <p:cNvPr id="26" name="Text 19"/>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PART I: AWS GLUE</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The 2026 runtime: Glue 5.1</a:t>
            </a:r>
            <a:endParaRPr lang="en-US" sz="2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828800"/>
                <a:gridCol w="1097280"/>
                <a:gridCol w="1097280"/>
                <a:gridCol w="420624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Version</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Spark</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Python</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Table formats</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r>
              <a:tr h="384048">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Glue 4.0</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3.3.0</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3.10</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Iceberg 1.0, Delta 2.2, Hudi 0.12</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84048">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Glue 5.0</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3.5.2</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3.11</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Iceberg 1.6, Delta 3.1, Hudi 0.15</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84048">
                <a:tc>
                  <a:txBody>
                    <a:bodyPr/>
                    <a:lstStyle/>
                    <a:p>
                      <a:pPr indent="0" marL="0">
                        <a:buNone/>
                      </a:pPr>
                      <a:r>
                        <a:rPr lang="en-US" sz="1100" b="1" dirty="0">
                          <a:solidFill>
                            <a:srgbClr val="D97706"/>
                          </a:solidFill>
                          <a:latin typeface="Calibri" pitchFamily="34" charset="0"/>
                          <a:ea typeface="Calibri" pitchFamily="34" charset="-122"/>
                          <a:cs typeface="Calibri" pitchFamily="34" charset="-120"/>
                        </a:rPr>
                        <a:t>Glue 5.1 (current)</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100" b="1" dirty="0">
                          <a:solidFill>
                            <a:srgbClr val="33415C"/>
                          </a:solidFill>
                          <a:latin typeface="Calibri" pitchFamily="34" charset="0"/>
                          <a:ea typeface="Calibri" pitchFamily="34" charset="-122"/>
                          <a:cs typeface="Calibri" pitchFamily="34" charset="-120"/>
                        </a:rPr>
                        <a:t>3.5.6</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3.11</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100" b="1" dirty="0">
                          <a:solidFill>
                            <a:srgbClr val="33415C"/>
                          </a:solidFill>
                          <a:latin typeface="Calibri" pitchFamily="34" charset="0"/>
                          <a:ea typeface="Calibri" pitchFamily="34" charset="-122"/>
                          <a:cs typeface="Calibri" pitchFamily="34" charset="-120"/>
                        </a:rPr>
                        <a:t>Iceberg 1.10, Delta 3.3.2, Hudi 1.0.2</a:t>
                      </a:r>
                      <a:endParaRPr lang="en-US" sz="110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bl>
          </a:graphicData>
        </a:graphic>
      </p:graphicFrame>
      <p:sp>
        <p:nvSpPr>
          <p:cNvPr id="5" name="Text 2"/>
          <p:cNvSpPr/>
          <p:nvPr/>
        </p:nvSpPr>
        <p:spPr>
          <a:xfrm>
            <a:off x="457200" y="3063240"/>
            <a:ext cx="82296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Why Glue 5.1 matters</a:t>
            </a:r>
            <a:endParaRPr lang="en-US" sz="1400" dirty="0"/>
          </a:p>
        </p:txBody>
      </p:sp>
      <p:sp>
        <p:nvSpPr>
          <p:cNvPr id="6" name="Text 3"/>
          <p:cNvSpPr/>
          <p:nvPr/>
        </p:nvSpPr>
        <p:spPr>
          <a:xfrm>
            <a:off x="457200" y="3401568"/>
            <a:ext cx="8229600" cy="1371600"/>
          </a:xfrm>
          <a:prstGeom prst="rect">
            <a:avLst/>
          </a:prstGeom>
          <a:noFill/>
          <a:ln/>
        </p:spPr>
        <p:txBody>
          <a:bodyPr wrap="square" rtlCol="0" anchor="t"/>
          <a:lstStyle/>
          <a:p>
            <a:pPr marL="152400" indent="-152400">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Apache Iceberg format v3: deletion vectors, default column values, row lineage.</a:t>
            </a:r>
            <a:endParaRPr lang="en-US" sz="1200" dirty="0"/>
          </a:p>
          <a:p>
            <a:pPr marL="152400" indent="-152400">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Lake Formation fine-grained access control now applies to writes, not just reads.</a:t>
            </a:r>
            <a:endParaRPr lang="en-US" sz="1200" dirty="0"/>
          </a:p>
          <a:p>
            <a:pPr marL="152400" indent="-152400">
              <a:spcAft>
                <a:spcPts val="800"/>
              </a:spcAft>
              <a:buSzPct val="100000"/>
              <a:buChar char="•"/>
            </a:pPr>
            <a:r>
              <a:rPr lang="en-US" sz="1200" dirty="0">
                <a:solidFill>
                  <a:srgbClr val="33415C"/>
                </a:solidFill>
                <a:latin typeface="Calibri" pitchFamily="34" charset="0"/>
                <a:ea typeface="Calibri" pitchFamily="34" charset="-122"/>
                <a:cs typeface="Calibri" pitchFamily="34" charset="-120"/>
              </a:rPr>
              <a:t>Faster S3 access (S3A default connector) and a built-in Spark troubleshooting agent.</a:t>
            </a:r>
            <a:endParaRPr lang="en-US" sz="1200" dirty="0"/>
          </a:p>
        </p:txBody>
      </p:sp>
      <p:sp>
        <p:nvSpPr>
          <p:cNvPr id="8" name="Text 4"/>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PART I: AWS GLUE</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Beyond batch: the rest of the platform</a:t>
            </a:r>
            <a:endParaRPr lang="en-US" sz="2500" dirty="0"/>
          </a:p>
        </p:txBody>
      </p:sp>
      <p:sp>
        <p:nvSpPr>
          <p:cNvPr id="4" name="Shape 2"/>
          <p:cNvSpPr/>
          <p:nvPr/>
        </p:nvSpPr>
        <p:spPr>
          <a:xfrm>
            <a:off x="457200" y="1234440"/>
            <a:ext cx="4023360" cy="1463040"/>
          </a:xfrm>
          <a:prstGeom prst="roundRect">
            <a:avLst>
              <a:gd name="adj" fmla="val 4375"/>
            </a:avLst>
          </a:prstGeom>
          <a:solidFill>
            <a:srgbClr val="F4F6FA"/>
          </a:solidFill>
          <a:ln/>
          <a:effectLst>
            <a:outerShdw sx="100000" sy="100000" kx="0" ky="0" algn="bl" rotWithShape="0" blurRad="76200" dist="25400" dir="2700000">
              <a:srgbClr val="000000">
                <a:alpha val="14000"/>
              </a:srgbClr>
            </a:outerShdw>
          </a:effectLst>
        </p:spPr>
      </p:sp>
      <p:sp>
        <p:nvSpPr>
          <p:cNvPr id="5" name="Shape 3"/>
          <p:cNvSpPr/>
          <p:nvPr/>
        </p:nvSpPr>
        <p:spPr>
          <a:xfrm>
            <a:off x="640080" y="1417320"/>
            <a:ext cx="502920" cy="50292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770839" y="1548079"/>
            <a:ext cx="241402" cy="241402"/>
          </a:xfrm>
          <a:prstGeom prst="rect">
            <a:avLst/>
          </a:prstGeom>
        </p:spPr>
      </p:pic>
      <p:sp>
        <p:nvSpPr>
          <p:cNvPr id="7" name="Text 4"/>
          <p:cNvSpPr/>
          <p:nvPr/>
        </p:nvSpPr>
        <p:spPr>
          <a:xfrm>
            <a:off x="1325880" y="138074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Streaming ETL</a:t>
            </a:r>
            <a:endParaRPr lang="en-US" sz="1300" dirty="0"/>
          </a:p>
        </p:txBody>
      </p:sp>
      <p:sp>
        <p:nvSpPr>
          <p:cNvPr id="8" name="Text 5"/>
          <p:cNvSpPr/>
          <p:nvPr/>
        </p:nvSpPr>
        <p:spPr>
          <a:xfrm>
            <a:off x="1325880" y="1664208"/>
            <a:ext cx="3063240" cy="960120"/>
          </a:xfrm>
          <a:prstGeom prst="rect">
            <a:avLst/>
          </a:prstGeom>
          <a:noFill/>
          <a:ln/>
        </p:spPr>
        <p:txBody>
          <a:bodyPr wrap="square" lIns="0" tIns="0" rIns="0" bIns="0" rtlCol="0" anchor="ctr"/>
          <a:lstStyle/>
          <a:p>
            <a:pPr indent="0" marL="0">
              <a:buNone/>
            </a:pPr>
            <a:r>
              <a:rPr lang="en-US" sz="950" dirty="0">
                <a:solidFill>
                  <a:srgbClr val="33415C"/>
                </a:solidFill>
                <a:latin typeface="Calibri" pitchFamily="34" charset="0"/>
                <a:ea typeface="Calibri" pitchFamily="34" charset="-122"/>
                <a:cs typeface="Calibri" pitchFamily="34" charset="-120"/>
              </a:rPr>
              <a:t>Kinesis, MSK, and Kafka sources with Spark Structured Streaming, checkpointing to S3, and the tiny G.025X worker for always-on jobs.</a:t>
            </a:r>
            <a:endParaRPr lang="en-US" sz="950" dirty="0"/>
          </a:p>
        </p:txBody>
      </p:sp>
      <p:sp>
        <p:nvSpPr>
          <p:cNvPr id="9" name="Shape 6"/>
          <p:cNvSpPr/>
          <p:nvPr/>
        </p:nvSpPr>
        <p:spPr>
          <a:xfrm>
            <a:off x="4709160" y="1234440"/>
            <a:ext cx="4023360" cy="1463040"/>
          </a:xfrm>
          <a:prstGeom prst="roundRect">
            <a:avLst>
              <a:gd name="adj" fmla="val 4375"/>
            </a:avLst>
          </a:prstGeom>
          <a:solidFill>
            <a:srgbClr val="F4F6FA"/>
          </a:solidFill>
          <a:ln/>
          <a:effectLst>
            <a:outerShdw sx="100000" sy="100000" kx="0" ky="0" algn="bl" rotWithShape="0" blurRad="76200" dist="25400" dir="2700000">
              <a:srgbClr val="000000">
                <a:alpha val="14000"/>
              </a:srgbClr>
            </a:outerShdw>
          </a:effectLst>
        </p:spPr>
      </p:sp>
      <p:sp>
        <p:nvSpPr>
          <p:cNvPr id="10" name="Shape 7"/>
          <p:cNvSpPr/>
          <p:nvPr/>
        </p:nvSpPr>
        <p:spPr>
          <a:xfrm>
            <a:off x="4892040" y="1417320"/>
            <a:ext cx="502920" cy="50292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5022799" y="1548079"/>
            <a:ext cx="241402" cy="241402"/>
          </a:xfrm>
          <a:prstGeom prst="rect">
            <a:avLst/>
          </a:prstGeom>
        </p:spPr>
      </p:pic>
      <p:sp>
        <p:nvSpPr>
          <p:cNvPr id="12" name="Text 8"/>
          <p:cNvSpPr/>
          <p:nvPr/>
        </p:nvSpPr>
        <p:spPr>
          <a:xfrm>
            <a:off x="5577840" y="138074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 Quality</a:t>
            </a:r>
            <a:endParaRPr lang="en-US" sz="1300" dirty="0"/>
          </a:p>
        </p:txBody>
      </p:sp>
      <p:sp>
        <p:nvSpPr>
          <p:cNvPr id="13" name="Text 9"/>
          <p:cNvSpPr/>
          <p:nvPr/>
        </p:nvSpPr>
        <p:spPr>
          <a:xfrm>
            <a:off x="5577840" y="1664208"/>
            <a:ext cx="3063240" cy="960120"/>
          </a:xfrm>
          <a:prstGeom prst="rect">
            <a:avLst/>
          </a:prstGeom>
          <a:noFill/>
          <a:ln/>
        </p:spPr>
        <p:txBody>
          <a:bodyPr wrap="square" lIns="0" tIns="0" rIns="0" bIns="0" rtlCol="0" anchor="ctr"/>
          <a:lstStyle/>
          <a:p>
            <a:pPr indent="0" marL="0">
              <a:buNone/>
            </a:pPr>
            <a:r>
              <a:rPr lang="en-US" sz="950" dirty="0">
                <a:solidFill>
                  <a:srgbClr val="33415C"/>
                </a:solidFill>
                <a:latin typeface="Calibri" pitchFamily="34" charset="0"/>
                <a:ea typeface="Calibri" pitchFamily="34" charset="-122"/>
                <a:cs typeface="Calibri" pitchFamily="34" charset="-120"/>
              </a:rPr>
              <a:t>DQDL rules on the Deequ engine, 25+ rule types, inline pipeline gates, and ML anomaly detection that writes rules for you.</a:t>
            </a:r>
            <a:endParaRPr lang="en-US" sz="950" dirty="0"/>
          </a:p>
        </p:txBody>
      </p:sp>
      <p:sp>
        <p:nvSpPr>
          <p:cNvPr id="14" name="Shape 10"/>
          <p:cNvSpPr/>
          <p:nvPr/>
        </p:nvSpPr>
        <p:spPr>
          <a:xfrm>
            <a:off x="457200" y="2834640"/>
            <a:ext cx="4023360" cy="1463040"/>
          </a:xfrm>
          <a:prstGeom prst="roundRect">
            <a:avLst>
              <a:gd name="adj" fmla="val 4375"/>
            </a:avLst>
          </a:prstGeom>
          <a:solidFill>
            <a:srgbClr val="F4F6FA"/>
          </a:solidFill>
          <a:ln/>
          <a:effectLst>
            <a:outerShdw sx="100000" sy="100000" kx="0" ky="0" algn="bl" rotWithShape="0" blurRad="76200" dist="25400" dir="2700000">
              <a:srgbClr val="000000">
                <a:alpha val="14000"/>
              </a:srgbClr>
            </a:outerShdw>
          </a:effectLst>
        </p:spPr>
      </p:sp>
      <p:sp>
        <p:nvSpPr>
          <p:cNvPr id="15" name="Shape 11"/>
          <p:cNvSpPr/>
          <p:nvPr/>
        </p:nvSpPr>
        <p:spPr>
          <a:xfrm>
            <a:off x="640080" y="3017520"/>
            <a:ext cx="502920" cy="50292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770839" y="3148279"/>
            <a:ext cx="241402" cy="241402"/>
          </a:xfrm>
          <a:prstGeom prst="rect">
            <a:avLst/>
          </a:prstGeom>
        </p:spPr>
      </p:pic>
      <p:sp>
        <p:nvSpPr>
          <p:cNvPr id="17" name="Text 12"/>
          <p:cNvSpPr/>
          <p:nvPr/>
        </p:nvSpPr>
        <p:spPr>
          <a:xfrm>
            <a:off x="1325880" y="298094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Zero-ETL</a:t>
            </a:r>
            <a:endParaRPr lang="en-US" sz="1300" dirty="0"/>
          </a:p>
        </p:txBody>
      </p:sp>
      <p:sp>
        <p:nvSpPr>
          <p:cNvPr id="18" name="Text 13"/>
          <p:cNvSpPr/>
          <p:nvPr/>
        </p:nvSpPr>
        <p:spPr>
          <a:xfrm>
            <a:off x="1325880" y="3264408"/>
            <a:ext cx="3063240" cy="960120"/>
          </a:xfrm>
          <a:prstGeom prst="rect">
            <a:avLst/>
          </a:prstGeom>
          <a:noFill/>
          <a:ln/>
        </p:spPr>
        <p:txBody>
          <a:bodyPr wrap="square" lIns="0" tIns="0" rIns="0" bIns="0" rtlCol="0" anchor="ctr"/>
          <a:lstStyle/>
          <a:p>
            <a:pPr indent="0" marL="0">
              <a:buNone/>
            </a:pPr>
            <a:r>
              <a:rPr lang="en-US" sz="950" dirty="0">
                <a:solidFill>
                  <a:srgbClr val="33415C"/>
                </a:solidFill>
                <a:latin typeface="Calibri" pitchFamily="34" charset="0"/>
                <a:ea typeface="Calibri" pitchFamily="34" charset="-122"/>
                <a:cs typeface="Calibri" pitchFamily="34" charset="-120"/>
              </a:rPr>
              <a:t>Managed replication: DynamoDB, Salesforce, SAP, plus self-managed Oracle, SQL Server, MySQL, and PostgreSQL into Redshift or S3 Tables.</a:t>
            </a:r>
            <a:endParaRPr lang="en-US" sz="950" dirty="0"/>
          </a:p>
        </p:txBody>
      </p:sp>
      <p:sp>
        <p:nvSpPr>
          <p:cNvPr id="19" name="Shape 14"/>
          <p:cNvSpPr/>
          <p:nvPr/>
        </p:nvSpPr>
        <p:spPr>
          <a:xfrm>
            <a:off x="4709160" y="2834640"/>
            <a:ext cx="4023360" cy="1463040"/>
          </a:xfrm>
          <a:prstGeom prst="roundRect">
            <a:avLst>
              <a:gd name="adj" fmla="val 4375"/>
            </a:avLst>
          </a:prstGeom>
          <a:solidFill>
            <a:srgbClr val="F4F6FA"/>
          </a:solidFill>
          <a:ln/>
          <a:effectLst>
            <a:outerShdw sx="100000" sy="100000" kx="0" ky="0" algn="bl" rotWithShape="0" blurRad="76200" dist="25400" dir="2700000">
              <a:srgbClr val="000000">
                <a:alpha val="14000"/>
              </a:srgbClr>
            </a:outerShdw>
          </a:effectLst>
        </p:spPr>
      </p:sp>
      <p:sp>
        <p:nvSpPr>
          <p:cNvPr id="20" name="Shape 15"/>
          <p:cNvSpPr/>
          <p:nvPr/>
        </p:nvSpPr>
        <p:spPr>
          <a:xfrm>
            <a:off x="4892040" y="3017520"/>
            <a:ext cx="502920" cy="50292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5022799" y="3148279"/>
            <a:ext cx="241402" cy="241402"/>
          </a:xfrm>
          <a:prstGeom prst="rect">
            <a:avLst/>
          </a:prstGeom>
        </p:spPr>
      </p:pic>
      <p:sp>
        <p:nvSpPr>
          <p:cNvPr id="22" name="Text 16"/>
          <p:cNvSpPr/>
          <p:nvPr/>
        </p:nvSpPr>
        <p:spPr>
          <a:xfrm>
            <a:off x="5577840" y="298094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Schema Registry</a:t>
            </a:r>
            <a:endParaRPr lang="en-US" sz="1300" dirty="0"/>
          </a:p>
        </p:txBody>
      </p:sp>
      <p:sp>
        <p:nvSpPr>
          <p:cNvPr id="23" name="Text 17"/>
          <p:cNvSpPr/>
          <p:nvPr/>
        </p:nvSpPr>
        <p:spPr>
          <a:xfrm>
            <a:off x="5577840" y="3264408"/>
            <a:ext cx="3063240" cy="960120"/>
          </a:xfrm>
          <a:prstGeom prst="rect">
            <a:avLst/>
          </a:prstGeom>
          <a:noFill/>
          <a:ln/>
        </p:spPr>
        <p:txBody>
          <a:bodyPr wrap="square" lIns="0" tIns="0" rIns="0" bIns="0" rtlCol="0" anchor="ctr"/>
          <a:lstStyle/>
          <a:p>
            <a:pPr indent="0" marL="0">
              <a:buNone/>
            </a:pPr>
            <a:r>
              <a:rPr lang="en-US" sz="950" dirty="0">
                <a:solidFill>
                  <a:srgbClr val="33415C"/>
                </a:solidFill>
                <a:latin typeface="Calibri" pitchFamily="34" charset="0"/>
                <a:ea typeface="Calibri" pitchFamily="34" charset="-122"/>
                <a:cs typeface="Calibri" pitchFamily="34" charset="-120"/>
              </a:rPr>
              <a:t>Free, serverless registry for Avro, JSON, and Protobuf. Blocks breaking schema changes before they reach consumers.</a:t>
            </a:r>
            <a:endParaRPr lang="en-US" sz="950" dirty="0"/>
          </a:p>
        </p:txBody>
      </p:sp>
      <p:sp>
        <p:nvSpPr>
          <p:cNvPr id="25" name="Text 18"/>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PART I: AWS GLUE</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Governance: the catalog plus Lake Formation</a:t>
            </a:r>
            <a:endParaRPr lang="en-US" sz="2500" dirty="0"/>
          </a:p>
        </p:txBody>
      </p:sp>
      <p:sp>
        <p:nvSpPr>
          <p:cNvPr id="4" name="Text 2"/>
          <p:cNvSpPr/>
          <p:nvPr/>
        </p:nvSpPr>
        <p:spPr>
          <a:xfrm>
            <a:off x="457200" y="1234440"/>
            <a:ext cx="5120640" cy="3108960"/>
          </a:xfrm>
          <a:prstGeom prst="rect">
            <a:avLst/>
          </a:prstGeom>
          <a:noFill/>
          <a:ln/>
        </p:spPr>
        <p:txBody>
          <a:bodyPr wrap="square" rtlCol="0" anchor="t"/>
          <a:lstStyle/>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Lake Formation builds its permission layer directly on the Glue Data Catalog.</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Fine-grained control: row-level, column-level, and cell-level security on tables.</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Glue 5.1 extends fine-grained control to write operations in Spark.</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Tag-based access control: policy by metadata tag instead of per-table grants.</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Cross-account sharing for data mesh patterns.</a:t>
            </a:r>
            <a:endParaRPr lang="en-US" sz="1200" dirty="0"/>
          </a:p>
        </p:txBody>
      </p:sp>
      <p:sp>
        <p:nvSpPr>
          <p:cNvPr id="5" name="Shape 3"/>
          <p:cNvSpPr/>
          <p:nvPr/>
        </p:nvSpPr>
        <p:spPr>
          <a:xfrm>
            <a:off x="5852160" y="1371600"/>
            <a:ext cx="2834640" cy="2926080"/>
          </a:xfrm>
          <a:prstGeom prst="roundRect">
            <a:avLst>
              <a:gd name="adj" fmla="val 2258"/>
            </a:avLst>
          </a:prstGeom>
          <a:solidFill>
            <a:srgbClr val="EAF1FC"/>
          </a:solidFill>
          <a:ln/>
          <a:effectLst>
            <a:outerShdw sx="100000" sy="100000" kx="0" ky="0" algn="bl" rotWithShape="0" blurRad="76200" dist="25400" dir="2700000">
              <a:srgbClr val="000000">
                <a:alpha val="14000"/>
              </a:srgbClr>
            </a:outerShdw>
          </a:effectLst>
        </p:spPr>
      </p:sp>
      <p:sp>
        <p:nvSpPr>
          <p:cNvPr id="6" name="Shape 4"/>
          <p:cNvSpPr/>
          <p:nvPr/>
        </p:nvSpPr>
        <p:spPr>
          <a:xfrm>
            <a:off x="6080760" y="1600200"/>
            <a:ext cx="548640" cy="54864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6223406" y="1742846"/>
            <a:ext cx="263347" cy="263347"/>
          </a:xfrm>
          <a:prstGeom prst="rect">
            <a:avLst/>
          </a:prstGeom>
        </p:spPr>
      </p:pic>
      <p:sp>
        <p:nvSpPr>
          <p:cNvPr id="8" name="Text 5"/>
          <p:cNvSpPr/>
          <p:nvPr/>
        </p:nvSpPr>
        <p:spPr>
          <a:xfrm>
            <a:off x="6080760" y="2286000"/>
            <a:ext cx="2377440" cy="5486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New frontier: catalog federation</a:t>
            </a:r>
            <a:endParaRPr lang="en-US" sz="1300" dirty="0"/>
          </a:p>
        </p:txBody>
      </p:sp>
      <p:sp>
        <p:nvSpPr>
          <p:cNvPr id="9" name="Text 6"/>
          <p:cNvSpPr/>
          <p:nvPr/>
        </p:nvSpPr>
        <p:spPr>
          <a:xfrm>
            <a:off x="6080760" y="2834640"/>
            <a:ext cx="2377440" cy="1371600"/>
          </a:xfrm>
          <a:prstGeom prst="rect">
            <a:avLst/>
          </a:prstGeom>
          <a:noFill/>
          <a:ln/>
        </p:spPr>
        <p:txBody>
          <a:bodyPr wrap="square" lIns="0" tIns="0" rIns="0" bIns="0" rtlCol="0" anchor="ctr"/>
          <a:lstStyle/>
          <a:p>
            <a:pPr indent="0" marL="0">
              <a:buNone/>
            </a:pPr>
            <a:r>
              <a:rPr lang="en-US" sz="1000" dirty="0">
                <a:solidFill>
                  <a:srgbClr val="33415C"/>
                </a:solidFill>
                <a:latin typeface="Calibri" pitchFamily="34" charset="0"/>
                <a:ea typeface="Calibri" pitchFamily="34" charset="-122"/>
                <a:cs typeface="Calibri" pitchFamily="34" charset="-120"/>
              </a:rPr>
              <a:t>Since Nov 2025, Glue federates to any Iceberg REST catalog, including Databricks Unity Catalog and Snowflake Horizon. Query remote tables without moving data, Lake Formation permissions intact.</a:t>
            </a:r>
            <a:endParaRPr lang="en-US" sz="1000" dirty="0"/>
          </a:p>
        </p:txBody>
      </p:sp>
      <p:sp>
        <p:nvSpPr>
          <p:cNvPr id="11" name="Text 7"/>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3E74D6"/>
                </a:solidFill>
                <a:latin typeface="Calibri" pitchFamily="34" charset="0"/>
                <a:ea typeface="Calibri" pitchFamily="34" charset="-122"/>
                <a:cs typeface="Calibri" pitchFamily="34" charset="-120"/>
              </a:rPr>
              <a:t>PART II: GOOGLE CLOUD</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GCP has no Glue</a:t>
            </a:r>
            <a:endParaRPr lang="en-US" sz="2500" dirty="0"/>
          </a:p>
        </p:txBody>
      </p:sp>
      <p:sp>
        <p:nvSpPr>
          <p:cNvPr id="4" name="Text 2"/>
          <p:cNvSpPr/>
          <p:nvPr/>
        </p:nvSpPr>
        <p:spPr>
          <a:xfrm>
            <a:off x="457200" y="1051560"/>
            <a:ext cx="82296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The same capabilities exist, distributed across a family of purpose-built services. You are the integrator.</a:t>
            </a:r>
            <a:endParaRPr lang="en-US" sz="1300" dirty="0"/>
          </a:p>
        </p:txBody>
      </p:sp>
      <p:sp>
        <p:nvSpPr>
          <p:cNvPr id="5" name="Shape 3"/>
          <p:cNvSpPr/>
          <p:nvPr/>
        </p:nvSpPr>
        <p:spPr>
          <a:xfrm>
            <a:off x="457200" y="1691640"/>
            <a:ext cx="2651760" cy="2651760"/>
          </a:xfrm>
          <a:prstGeom prst="roundRect">
            <a:avLst>
              <a:gd name="adj" fmla="val 2414"/>
            </a:avLst>
          </a:prstGeom>
          <a:solidFill>
            <a:srgbClr val="FBF1E2"/>
          </a:solidFill>
          <a:ln/>
          <a:effectLst>
            <a:outerShdw sx="100000" sy="100000" kx="0" ky="0" algn="bl" rotWithShape="0" blurRad="76200" dist="25400" dir="2700000">
              <a:srgbClr val="000000">
                <a:alpha val="14000"/>
              </a:srgbClr>
            </a:outerShdw>
          </a:effectLst>
        </p:spPr>
      </p:sp>
      <p:sp>
        <p:nvSpPr>
          <p:cNvPr id="6" name="Shape 4"/>
          <p:cNvSpPr/>
          <p:nvPr/>
        </p:nvSpPr>
        <p:spPr>
          <a:xfrm>
            <a:off x="1463040" y="1965960"/>
            <a:ext cx="640080" cy="64008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1629461" y="2132381"/>
            <a:ext cx="307238" cy="307238"/>
          </a:xfrm>
          <a:prstGeom prst="rect">
            <a:avLst/>
          </a:prstGeom>
        </p:spPr>
      </p:pic>
      <p:sp>
        <p:nvSpPr>
          <p:cNvPr id="8" name="Text 5"/>
          <p:cNvSpPr/>
          <p:nvPr/>
        </p:nvSpPr>
        <p:spPr>
          <a:xfrm>
            <a:off x="548640" y="2743200"/>
            <a:ext cx="2468880" cy="32004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AWS Glue</a:t>
            </a:r>
            <a:endParaRPr lang="en-US" sz="1500" dirty="0"/>
          </a:p>
        </p:txBody>
      </p:sp>
      <p:sp>
        <p:nvSpPr>
          <p:cNvPr id="9" name="Text 6"/>
          <p:cNvSpPr/>
          <p:nvPr/>
        </p:nvSpPr>
        <p:spPr>
          <a:xfrm>
            <a:off x="658368" y="3108960"/>
            <a:ext cx="2249424" cy="1005840"/>
          </a:xfrm>
          <a:prstGeom prst="rect">
            <a:avLst/>
          </a:prstGeom>
          <a:noFill/>
          <a:ln/>
        </p:spPr>
        <p:txBody>
          <a:bodyPr wrap="square" lIns="0" tIns="0" rIns="0" bIns="0" rtlCol="0" anchor="ctr"/>
          <a:lstStyle/>
          <a:p>
            <a:pPr algn="ctr" indent="0" marL="0">
              <a:buNone/>
            </a:pPr>
            <a:r>
              <a:rPr lang="en-US" sz="1000" dirty="0">
                <a:solidFill>
                  <a:srgbClr val="33415C"/>
                </a:solidFill>
                <a:latin typeface="Calibri" pitchFamily="34" charset="0"/>
                <a:ea typeface="Calibri" pitchFamily="34" charset="-122"/>
                <a:cs typeface="Calibri" pitchFamily="34" charset="-120"/>
              </a:rPr>
              <a:t>One service umbrella: catalog, ETL, streaming, quality, replication, AI assist</a:t>
            </a:r>
            <a:endParaRPr lang="en-US" sz="1000" dirty="0"/>
          </a:p>
        </p:txBody>
      </p:sp>
      <p:sp>
        <p:nvSpPr>
          <p:cNvPr id="10" name="Shape 7"/>
          <p:cNvSpPr/>
          <p:nvPr/>
        </p:nvSpPr>
        <p:spPr>
          <a:xfrm>
            <a:off x="3794760" y="1828800"/>
            <a:ext cx="1554480" cy="1051560"/>
          </a:xfrm>
          <a:prstGeom prst="roundRect">
            <a:avLst>
              <a:gd name="adj" fmla="val 6087"/>
            </a:avLst>
          </a:prstGeom>
          <a:solidFill>
            <a:srgbClr val="EAF1FC"/>
          </a:solidFill>
          <a:ln/>
          <a:effectLst>
            <a:outerShdw sx="100000" sy="100000" kx="0" ky="0" algn="bl" rotWithShape="0" blurRad="76200" dist="25400" dir="2700000">
              <a:srgbClr val="000000">
                <a:alpha val="14000"/>
              </a:srgbClr>
            </a:outerShdw>
          </a:effectLst>
        </p:spPr>
      </p:sp>
      <p:sp>
        <p:nvSpPr>
          <p:cNvPr id="11" name="Text 8"/>
          <p:cNvSpPr/>
          <p:nvPr/>
        </p:nvSpPr>
        <p:spPr>
          <a:xfrm>
            <a:off x="3867912" y="1828800"/>
            <a:ext cx="1408176"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Cloud Data Fusion</a:t>
            </a:r>
            <a:endParaRPr lang="en-US" sz="1050" dirty="0"/>
          </a:p>
        </p:txBody>
      </p:sp>
      <p:sp>
        <p:nvSpPr>
          <p:cNvPr id="12" name="Shape 9"/>
          <p:cNvSpPr/>
          <p:nvPr/>
        </p:nvSpPr>
        <p:spPr>
          <a:xfrm>
            <a:off x="5486400" y="1828800"/>
            <a:ext cx="1554480" cy="1051560"/>
          </a:xfrm>
          <a:prstGeom prst="roundRect">
            <a:avLst>
              <a:gd name="adj" fmla="val 6087"/>
            </a:avLst>
          </a:prstGeom>
          <a:solidFill>
            <a:srgbClr val="EAF1FC"/>
          </a:solidFill>
          <a:ln/>
          <a:effectLst>
            <a:outerShdw sx="100000" sy="100000" kx="0" ky="0" algn="bl" rotWithShape="0" blurRad="76200" dist="25400" dir="2700000">
              <a:srgbClr val="000000">
                <a:alpha val="14000"/>
              </a:srgbClr>
            </a:outerShdw>
          </a:effectLst>
        </p:spPr>
      </p:sp>
      <p:sp>
        <p:nvSpPr>
          <p:cNvPr id="13" name="Text 10"/>
          <p:cNvSpPr/>
          <p:nvPr/>
        </p:nvSpPr>
        <p:spPr>
          <a:xfrm>
            <a:off x="5559552" y="1828800"/>
            <a:ext cx="1408176"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Dataflow</a:t>
            </a:r>
            <a:endParaRPr lang="en-US" sz="1050" dirty="0"/>
          </a:p>
        </p:txBody>
      </p:sp>
      <p:sp>
        <p:nvSpPr>
          <p:cNvPr id="14" name="Shape 11"/>
          <p:cNvSpPr/>
          <p:nvPr/>
        </p:nvSpPr>
        <p:spPr>
          <a:xfrm>
            <a:off x="7178040" y="1828800"/>
            <a:ext cx="1554480" cy="1051560"/>
          </a:xfrm>
          <a:prstGeom prst="roundRect">
            <a:avLst>
              <a:gd name="adj" fmla="val 6087"/>
            </a:avLst>
          </a:prstGeom>
          <a:solidFill>
            <a:srgbClr val="EAF1FC"/>
          </a:solidFill>
          <a:ln/>
          <a:effectLst>
            <a:outerShdw sx="100000" sy="100000" kx="0" ky="0" algn="bl" rotWithShape="0" blurRad="76200" dist="25400" dir="2700000">
              <a:srgbClr val="000000">
                <a:alpha val="14000"/>
              </a:srgbClr>
            </a:outerShdw>
          </a:effectLst>
        </p:spPr>
      </p:sp>
      <p:sp>
        <p:nvSpPr>
          <p:cNvPr id="15" name="Text 12"/>
          <p:cNvSpPr/>
          <p:nvPr/>
        </p:nvSpPr>
        <p:spPr>
          <a:xfrm>
            <a:off x="7251192" y="1828800"/>
            <a:ext cx="1408176"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Managed Spark</a:t>
            </a:r>
            <a:endParaRPr lang="en-US" sz="1050" dirty="0"/>
          </a:p>
        </p:txBody>
      </p:sp>
      <p:sp>
        <p:nvSpPr>
          <p:cNvPr id="16" name="Shape 13"/>
          <p:cNvSpPr/>
          <p:nvPr/>
        </p:nvSpPr>
        <p:spPr>
          <a:xfrm>
            <a:off x="3794760" y="3063240"/>
            <a:ext cx="1554480" cy="1051560"/>
          </a:xfrm>
          <a:prstGeom prst="roundRect">
            <a:avLst>
              <a:gd name="adj" fmla="val 6087"/>
            </a:avLst>
          </a:prstGeom>
          <a:solidFill>
            <a:srgbClr val="EAF1FC"/>
          </a:solidFill>
          <a:ln/>
          <a:effectLst>
            <a:outerShdw sx="100000" sy="100000" kx="0" ky="0" algn="bl" rotWithShape="0" blurRad="76200" dist="25400" dir="2700000">
              <a:srgbClr val="000000">
                <a:alpha val="14000"/>
              </a:srgbClr>
            </a:outerShdw>
          </a:effectLst>
        </p:spPr>
      </p:sp>
      <p:sp>
        <p:nvSpPr>
          <p:cNvPr id="17" name="Text 14"/>
          <p:cNvSpPr/>
          <p:nvPr/>
        </p:nvSpPr>
        <p:spPr>
          <a:xfrm>
            <a:off x="3867912" y="3063240"/>
            <a:ext cx="1408176"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Dataform</a:t>
            </a:r>
            <a:endParaRPr lang="en-US" sz="1050" dirty="0"/>
          </a:p>
        </p:txBody>
      </p:sp>
      <p:sp>
        <p:nvSpPr>
          <p:cNvPr id="18" name="Shape 15"/>
          <p:cNvSpPr/>
          <p:nvPr/>
        </p:nvSpPr>
        <p:spPr>
          <a:xfrm>
            <a:off x="5486400" y="3063240"/>
            <a:ext cx="1554480" cy="1051560"/>
          </a:xfrm>
          <a:prstGeom prst="roundRect">
            <a:avLst>
              <a:gd name="adj" fmla="val 6087"/>
            </a:avLst>
          </a:prstGeom>
          <a:solidFill>
            <a:srgbClr val="EAF1FC"/>
          </a:solidFill>
          <a:ln/>
          <a:effectLst>
            <a:outerShdw sx="100000" sy="100000" kx="0" ky="0" algn="bl" rotWithShape="0" blurRad="76200" dist="25400" dir="2700000">
              <a:srgbClr val="000000">
                <a:alpha val="14000"/>
              </a:srgbClr>
            </a:outerShdw>
          </a:effectLst>
        </p:spPr>
      </p:sp>
      <p:sp>
        <p:nvSpPr>
          <p:cNvPr id="19" name="Text 16"/>
          <p:cNvSpPr/>
          <p:nvPr/>
        </p:nvSpPr>
        <p:spPr>
          <a:xfrm>
            <a:off x="5559552" y="3063240"/>
            <a:ext cx="1408176"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Datastream</a:t>
            </a:r>
            <a:endParaRPr lang="en-US" sz="1050" dirty="0"/>
          </a:p>
        </p:txBody>
      </p:sp>
      <p:sp>
        <p:nvSpPr>
          <p:cNvPr id="20" name="Shape 17"/>
          <p:cNvSpPr/>
          <p:nvPr/>
        </p:nvSpPr>
        <p:spPr>
          <a:xfrm>
            <a:off x="7178040" y="3063240"/>
            <a:ext cx="1554480" cy="1051560"/>
          </a:xfrm>
          <a:prstGeom prst="roundRect">
            <a:avLst>
              <a:gd name="adj" fmla="val 6087"/>
            </a:avLst>
          </a:prstGeom>
          <a:solidFill>
            <a:srgbClr val="EAF1FC"/>
          </a:solidFill>
          <a:ln/>
          <a:effectLst>
            <a:outerShdw sx="100000" sy="100000" kx="0" ky="0" algn="bl" rotWithShape="0" blurRad="76200" dist="25400" dir="2700000">
              <a:srgbClr val="000000">
                <a:alpha val="14000"/>
              </a:srgbClr>
            </a:outerShdw>
          </a:effectLst>
        </p:spPr>
      </p:sp>
      <p:sp>
        <p:nvSpPr>
          <p:cNvPr id="21" name="Text 18"/>
          <p:cNvSpPr/>
          <p:nvPr/>
        </p:nvSpPr>
        <p:spPr>
          <a:xfrm>
            <a:off x="7251192" y="3063240"/>
            <a:ext cx="1408176" cy="10515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Knowledge Catalog</a:t>
            </a:r>
            <a:endParaRPr lang="en-US" sz="1050" dirty="0"/>
          </a:p>
        </p:txBody>
      </p:sp>
      <p:sp>
        <p:nvSpPr>
          <p:cNvPr id="22" name="Text 19"/>
          <p:cNvSpPr/>
          <p:nvPr/>
        </p:nvSpPr>
        <p:spPr>
          <a:xfrm>
            <a:off x="3794760" y="4160520"/>
            <a:ext cx="4937760" cy="45720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 BigQuery Pipelines, Pub/Sub Schema Registry, Cloud Composer for orchestration</a:t>
            </a:r>
            <a:endParaRPr lang="en-US" sz="1000" dirty="0"/>
          </a:p>
        </p:txBody>
      </p:sp>
      <p:sp>
        <p:nvSpPr>
          <p:cNvPr id="24" name="Text 20"/>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3E74D6"/>
                </a:solidFill>
                <a:latin typeface="Calibri" pitchFamily="34" charset="0"/>
                <a:ea typeface="Calibri" pitchFamily="34" charset="-122"/>
                <a:cs typeface="Calibri" pitchFamily="34" charset="-120"/>
              </a:rPr>
              <a:t>PART II: GOOGLE CLOUD</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The capability map</a:t>
            </a:r>
            <a:endParaRPr lang="en-US" sz="2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566160"/>
                <a:gridCol w="4663440"/>
              </a:tblGrid>
              <a:tr h="28346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AWS Glue capability</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GCP equivalent</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r>
              <a:tr h="283464">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Visual no-code ETL</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Cloud Data Fusion (Pipeline Studio + Wrangler)</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83464">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PySpark / Scala batch ETL</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Managed Service for Apache Spark (formerly Dataproc)</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83464">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Unified batch + streaming code ETL</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Cloud Dataflow (Apache Beam)</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83464">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Interactive Spark notebooks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Managed Spark interactive sessions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83464">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SQL transformation pipelines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Dataform (inside BigQuery Studio)</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83464">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Zero-ETL / CDC replication</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Datastream</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83464">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Data catalog and governance</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Knowledge Catalog</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83464">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Data quality</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Knowledge Catalog data quality checks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83464">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Workflows / orchestration</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Cloud Composer (Airflow) or BigQuery Pipelines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83464">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Schema registry</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Pub/Sub Schema Registry</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283464">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GenAI assistance (Amazon Q)</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Gemini in BigQuery and Data Fusion</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bl>
          </a:graphicData>
        </a:graphic>
      </p:graphicFrame>
      <p:sp>
        <p:nvSpPr>
          <p:cNvPr id="6" name="Text 2"/>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3E74D6"/>
                </a:solidFill>
                <a:latin typeface="Calibri" pitchFamily="34" charset="0"/>
                <a:ea typeface="Calibri" pitchFamily="34" charset="-122"/>
                <a:cs typeface="Calibri" pitchFamily="34" charset="-120"/>
              </a:rPr>
              <a:t>GCP SPOTLIGHT 1 OF 3</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Cloud Data Fusion: the visual ETL hub</a:t>
            </a:r>
            <a:endParaRPr lang="en-US" sz="2500" dirty="0"/>
          </a:p>
        </p:txBody>
      </p:sp>
      <p:sp>
        <p:nvSpPr>
          <p:cNvPr id="4" name="Text 2"/>
          <p:cNvSpPr/>
          <p:nvPr/>
        </p:nvSpPr>
        <p:spPr>
          <a:xfrm>
            <a:off x="457200" y="1234440"/>
            <a:ext cx="5212080" cy="3017520"/>
          </a:xfrm>
          <a:prstGeom prst="rect">
            <a:avLst/>
          </a:prstGeom>
          <a:noFill/>
          <a:ln/>
        </p:spPr>
        <p:txBody>
          <a:bodyPr wrap="square" rtlCol="0" anchor="t"/>
          <a:lstStyle/>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Fully managed visual integration built on open-source CDAP: pipelines are portable.</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Pipeline Studio: node-based canvas with 100+ source, transform, and sink plugins.</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Wrangler: spreadsheet-style cleansing, the Data Preparation counterpart.</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Runs each pipeline on ephemeral Spark clusters it provisions for you.</a:t>
            </a:r>
            <a:endParaRPr lang="en-US" sz="1200" dirty="0"/>
          </a:p>
          <a:p>
            <a:pPr marL="152400" indent="-152400">
              <a:spcAft>
                <a:spcPts val="1100"/>
              </a:spcAft>
              <a:buSzPct val="100000"/>
              <a:buChar char="•"/>
            </a:pPr>
            <a:r>
              <a:rPr lang="en-US" sz="1200" dirty="0">
                <a:solidFill>
                  <a:srgbClr val="33415C"/>
                </a:solidFill>
                <a:latin typeface="Calibri" pitchFamily="34" charset="0"/>
                <a:ea typeface="Calibri" pitchFamily="34" charset="-122"/>
                <a:cs typeface="Calibri" pitchFamily="34" charset="-120"/>
              </a:rPr>
              <a:t>Built-in replication template gives no-code CDC from Oracle into BigQuery.</a:t>
            </a:r>
            <a:endParaRPr lang="en-US" sz="1200" dirty="0"/>
          </a:p>
        </p:txBody>
      </p:sp>
      <p:sp>
        <p:nvSpPr>
          <p:cNvPr id="5" name="Shape 3"/>
          <p:cNvSpPr/>
          <p:nvPr/>
        </p:nvSpPr>
        <p:spPr>
          <a:xfrm>
            <a:off x="5943600" y="1371600"/>
            <a:ext cx="2743200" cy="2926080"/>
          </a:xfrm>
          <a:prstGeom prst="roundRect">
            <a:avLst>
              <a:gd name="adj" fmla="val 2333"/>
            </a:avLst>
          </a:prstGeom>
          <a:solidFill>
            <a:srgbClr val="EAF1FC"/>
          </a:solidFill>
          <a:ln/>
          <a:effectLst>
            <a:outerShdw sx="100000" sy="100000" kx="0" ky="0" algn="bl" rotWithShape="0" blurRad="76200" dist="25400" dir="2700000">
              <a:srgbClr val="000000">
                <a:alpha val="14000"/>
              </a:srgbClr>
            </a:outerShdw>
          </a:effectLst>
        </p:spPr>
      </p:sp>
      <p:sp>
        <p:nvSpPr>
          <p:cNvPr id="6" name="Text 4"/>
          <p:cNvSpPr/>
          <p:nvPr/>
        </p:nvSpPr>
        <p:spPr>
          <a:xfrm>
            <a:off x="6172200" y="1554480"/>
            <a:ext cx="22860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Watch the meter</a:t>
            </a:r>
            <a:endParaRPr lang="en-US" sz="1300" dirty="0"/>
          </a:p>
        </p:txBody>
      </p:sp>
      <p:sp>
        <p:nvSpPr>
          <p:cNvPr id="7" name="Text 5"/>
          <p:cNvSpPr/>
          <p:nvPr/>
        </p:nvSpPr>
        <p:spPr>
          <a:xfrm>
            <a:off x="6172200" y="1920240"/>
            <a:ext cx="2331720" cy="2286000"/>
          </a:xfrm>
          <a:prstGeom prst="rect">
            <a:avLst/>
          </a:prstGeom>
          <a:noFill/>
          <a:ln/>
        </p:spPr>
        <p:txBody>
          <a:bodyPr wrap="square" rtlCol="0" anchor="t"/>
          <a:lstStyle/>
          <a:p>
            <a:pPr indent="0" marL="0">
              <a:spcAft>
                <a:spcPts val="600"/>
              </a:spcAft>
              <a:buNone/>
            </a:pPr>
            <a:r>
              <a:rPr lang="en-US" sz="1050" dirty="0">
                <a:solidFill>
                  <a:srgbClr val="33415C"/>
                </a:solidFill>
                <a:latin typeface="Calibri" pitchFamily="34" charset="0"/>
                <a:ea typeface="Calibri" pitchFamily="34" charset="-122"/>
                <a:cs typeface="Calibri" pitchFamily="34" charset="-120"/>
              </a:rPr>
              <a:t>Developer: ~$1.85/hr</a:t>
            </a:r>
            <a:endParaRPr lang="en-US" sz="1050" dirty="0"/>
          </a:p>
          <a:p>
            <a:pPr indent="0" marL="0">
              <a:spcAft>
                <a:spcPts val="600"/>
              </a:spcAft>
              <a:buNone/>
            </a:pPr>
            <a:r>
              <a:rPr lang="en-US" sz="1050" dirty="0">
                <a:solidFill>
                  <a:srgbClr val="33415C"/>
                </a:solidFill>
                <a:latin typeface="Calibri" pitchFamily="34" charset="0"/>
                <a:ea typeface="Calibri" pitchFamily="34" charset="-122"/>
                <a:cs typeface="Calibri" pitchFamily="34" charset="-120"/>
              </a:rPr>
              <a:t>Basic: ~$9.60/hr + compute</a:t>
            </a:r>
            <a:endParaRPr lang="en-US" sz="1050" dirty="0"/>
          </a:p>
          <a:p>
            <a:pPr indent="0" marL="0">
              <a:spcAft>
                <a:spcPts val="1200"/>
              </a:spcAft>
              <a:buNone/>
            </a:pPr>
            <a:r>
              <a:rPr lang="en-US" sz="1050" dirty="0">
                <a:solidFill>
                  <a:srgbClr val="33415C"/>
                </a:solidFill>
                <a:latin typeface="Calibri" pitchFamily="34" charset="0"/>
                <a:ea typeface="Calibri" pitchFamily="34" charset="-122"/>
                <a:cs typeface="Calibri" pitchFamily="34" charset="-120"/>
              </a:rPr>
              <a:t>Enterprise: HA + security</a:t>
            </a:r>
            <a:endParaRPr lang="en-US" sz="1050" dirty="0"/>
          </a:p>
          <a:p>
            <a:pPr indent="0" marL="0">
              <a:buNone/>
            </a:pPr>
            <a:r>
              <a:rPr lang="en-US" sz="1050" i="1" dirty="0">
                <a:solidFill>
                  <a:srgbClr val="64748B"/>
                </a:solidFill>
                <a:latin typeface="Calibri" pitchFamily="34" charset="0"/>
                <a:ea typeface="Calibri" pitchFamily="34" charset="-122"/>
                <a:cs typeface="Calibri" pitchFamily="34" charset="-120"/>
              </a:rPr>
              <a:t>Instances bill while running, unlike Glue jobs that bill per run. The biggest cost-model difference between the two.</a:t>
            </a:r>
            <a:endParaRPr lang="en-US" sz="1050" dirty="0"/>
          </a:p>
        </p:txBody>
      </p:sp>
      <p:sp>
        <p:nvSpPr>
          <p:cNvPr id="9" name="Text 6"/>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3E74D6"/>
                </a:solidFill>
                <a:latin typeface="Calibri" pitchFamily="34" charset="0"/>
                <a:ea typeface="Calibri" pitchFamily="34" charset="-122"/>
                <a:cs typeface="Calibri" pitchFamily="34" charset="-120"/>
              </a:rPr>
              <a:t>GCP SPOTLIGHT 2 OF 3</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Two engines for code: Managed Spark vs Dataflow</a:t>
            </a:r>
            <a:endParaRPr lang="en-US" sz="2500" dirty="0"/>
          </a:p>
        </p:txBody>
      </p:sp>
      <p:sp>
        <p:nvSpPr>
          <p:cNvPr id="4" name="Text 2"/>
          <p:cNvSpPr/>
          <p:nvPr/>
        </p:nvSpPr>
        <p:spPr>
          <a:xfrm>
            <a:off x="457200" y="1078992"/>
            <a:ext cx="8229600" cy="502920"/>
          </a:xfrm>
          <a:prstGeom prst="rect">
            <a:avLst/>
          </a:prstGeom>
          <a:noFill/>
          <a:ln/>
        </p:spPr>
        <p:txBody>
          <a:bodyPr wrap="square" lIns="0" tIns="0" rIns="0" bIns="0" rtlCol="0" anchor="ctr"/>
          <a:lstStyle/>
          <a:p>
            <a:pPr indent="0" marL="0">
              <a:buNone/>
            </a:pPr>
            <a:r>
              <a:rPr lang="en-US" sz="1100" dirty="0">
                <a:solidFill>
                  <a:srgbClr val="33415C"/>
                </a:solidFill>
                <a:latin typeface="Calibri" pitchFamily="34" charset="0"/>
                <a:ea typeface="Calibri" pitchFamily="34" charset="-122"/>
                <a:cs typeface="Calibri" pitchFamily="34" charset="-120"/>
              </a:rPr>
              <a:t>April 2026: Dataproc and its serverless mode were unified as Managed Service for Apache Spark. Dataflow remains the Apache Beam service with one model for batch and streaming.</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2194560"/>
                <a:gridCol w="3017520"/>
                <a:gridCol w="301752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Factor</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Choose Dataflow</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Choose Managed Spark</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r>
              <a:tr h="38404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Programming model</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Greenfield, Apache Beam</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Existing Spark or Hadoop code</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8404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Streaming</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First-class, unified with batch</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Possible, but secondary</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8404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Infrastructure control</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Minimal, fully serverless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High: clusters, images, SSH</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8404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Ecosystem</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Beam IO connectors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Any Spark library, Hive, Pig</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8404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Cost model</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Pay only while processing</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Cluster-based or per-job serverless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8404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2026 edge</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Liquid sharding, TPU workers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Spark 3.5 runtime, Glue-like sessions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bl>
          </a:graphicData>
        </a:graphic>
      </p:graphicFrame>
      <p:sp>
        <p:nvSpPr>
          <p:cNvPr id="7" name="Text 3"/>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3E74D6"/>
                </a:solidFill>
                <a:latin typeface="Calibri" pitchFamily="34" charset="0"/>
                <a:ea typeface="Calibri" pitchFamily="34" charset="-122"/>
                <a:cs typeface="Calibri" pitchFamily="34" charset="-120"/>
              </a:rPr>
              <a:t>GCP SPOTLIGHT 3 OF 3</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The rest of the family</a:t>
            </a:r>
            <a:endParaRPr lang="en-US" sz="2500" dirty="0"/>
          </a:p>
        </p:txBody>
      </p:sp>
      <p:sp>
        <p:nvSpPr>
          <p:cNvPr id="4" name="Shape 2"/>
          <p:cNvSpPr/>
          <p:nvPr/>
        </p:nvSpPr>
        <p:spPr>
          <a:xfrm>
            <a:off x="457200" y="1234440"/>
            <a:ext cx="4023360" cy="1463040"/>
          </a:xfrm>
          <a:prstGeom prst="roundRect">
            <a:avLst>
              <a:gd name="adj" fmla="val 4375"/>
            </a:avLst>
          </a:prstGeom>
          <a:solidFill>
            <a:srgbClr val="EAF1FC"/>
          </a:solidFill>
          <a:ln/>
          <a:effectLst>
            <a:outerShdw sx="100000" sy="100000" kx="0" ky="0" algn="bl" rotWithShape="0" blurRad="76200" dist="25400" dir="2700000">
              <a:srgbClr val="000000">
                <a:alpha val="14000"/>
              </a:srgbClr>
            </a:outerShdw>
          </a:effectLst>
        </p:spPr>
      </p:sp>
      <p:sp>
        <p:nvSpPr>
          <p:cNvPr id="5" name="Shape 3"/>
          <p:cNvSpPr/>
          <p:nvPr/>
        </p:nvSpPr>
        <p:spPr>
          <a:xfrm>
            <a:off x="640080" y="1417320"/>
            <a:ext cx="502920" cy="50292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770839" y="1548079"/>
            <a:ext cx="241402" cy="241402"/>
          </a:xfrm>
          <a:prstGeom prst="rect">
            <a:avLst/>
          </a:prstGeom>
        </p:spPr>
      </p:pic>
      <p:sp>
        <p:nvSpPr>
          <p:cNvPr id="7" name="Text 4"/>
          <p:cNvSpPr/>
          <p:nvPr/>
        </p:nvSpPr>
        <p:spPr>
          <a:xfrm>
            <a:off x="1325880" y="138074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Datastream</a:t>
            </a:r>
            <a:endParaRPr lang="en-US" sz="1300" dirty="0"/>
          </a:p>
        </p:txBody>
      </p:sp>
      <p:sp>
        <p:nvSpPr>
          <p:cNvPr id="8" name="Text 5"/>
          <p:cNvSpPr/>
          <p:nvPr/>
        </p:nvSpPr>
        <p:spPr>
          <a:xfrm>
            <a:off x="1325880" y="1664208"/>
            <a:ext cx="3063240" cy="987552"/>
          </a:xfrm>
          <a:prstGeom prst="rect">
            <a:avLst/>
          </a:prstGeom>
          <a:noFill/>
          <a:ln/>
        </p:spPr>
        <p:txBody>
          <a:bodyPr wrap="square" lIns="0" tIns="0" rIns="0" bIns="0" rtlCol="0" anchor="ctr"/>
          <a:lstStyle/>
          <a:p>
            <a:pPr indent="0" marL="0">
              <a:buNone/>
            </a:pPr>
            <a:r>
              <a:rPr lang="en-US" sz="950" dirty="0">
                <a:solidFill>
                  <a:srgbClr val="33415C"/>
                </a:solidFill>
                <a:latin typeface="Calibri" pitchFamily="34" charset="0"/>
                <a:ea typeface="Calibri" pitchFamily="34" charset="-122"/>
                <a:cs typeface="Calibri" pitchFamily="34" charset="-120"/>
              </a:rPr>
              <a:t>Serverless log-based CDC from MySQL, PostgreSQL, Oracle, and SQL Server into BigQuery and Iceberg. Handles schema drift with a versioned registry. 500B+ events per month.</a:t>
            </a:r>
            <a:endParaRPr lang="en-US" sz="950" dirty="0"/>
          </a:p>
        </p:txBody>
      </p:sp>
      <p:sp>
        <p:nvSpPr>
          <p:cNvPr id="9" name="Shape 6"/>
          <p:cNvSpPr/>
          <p:nvPr/>
        </p:nvSpPr>
        <p:spPr>
          <a:xfrm>
            <a:off x="4709160" y="1234440"/>
            <a:ext cx="4023360" cy="1463040"/>
          </a:xfrm>
          <a:prstGeom prst="roundRect">
            <a:avLst>
              <a:gd name="adj" fmla="val 4375"/>
            </a:avLst>
          </a:prstGeom>
          <a:solidFill>
            <a:srgbClr val="F4F6FA"/>
          </a:solidFill>
          <a:ln/>
          <a:effectLst>
            <a:outerShdw sx="100000" sy="100000" kx="0" ky="0" algn="bl" rotWithShape="0" blurRad="76200" dist="25400" dir="2700000">
              <a:srgbClr val="000000">
                <a:alpha val="14000"/>
              </a:srgbClr>
            </a:outerShdw>
          </a:effectLst>
        </p:spPr>
      </p:sp>
      <p:sp>
        <p:nvSpPr>
          <p:cNvPr id="10" name="Shape 7"/>
          <p:cNvSpPr/>
          <p:nvPr/>
        </p:nvSpPr>
        <p:spPr>
          <a:xfrm>
            <a:off x="4892040" y="1417320"/>
            <a:ext cx="502920" cy="50292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5022799" y="1548079"/>
            <a:ext cx="241402" cy="241402"/>
          </a:xfrm>
          <a:prstGeom prst="rect">
            <a:avLst/>
          </a:prstGeom>
        </p:spPr>
      </p:pic>
      <p:sp>
        <p:nvSpPr>
          <p:cNvPr id="12" name="Text 8"/>
          <p:cNvSpPr/>
          <p:nvPr/>
        </p:nvSpPr>
        <p:spPr>
          <a:xfrm>
            <a:off x="5577840" y="138074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Dataform</a:t>
            </a:r>
            <a:endParaRPr lang="en-US" sz="1300" dirty="0"/>
          </a:p>
        </p:txBody>
      </p:sp>
      <p:sp>
        <p:nvSpPr>
          <p:cNvPr id="13" name="Text 9"/>
          <p:cNvSpPr/>
          <p:nvPr/>
        </p:nvSpPr>
        <p:spPr>
          <a:xfrm>
            <a:off x="5577840" y="1664208"/>
            <a:ext cx="3063240" cy="987552"/>
          </a:xfrm>
          <a:prstGeom prst="rect">
            <a:avLst/>
          </a:prstGeom>
          <a:noFill/>
          <a:ln/>
        </p:spPr>
        <p:txBody>
          <a:bodyPr wrap="square" lIns="0" tIns="0" rIns="0" bIns="0" rtlCol="0" anchor="ctr"/>
          <a:lstStyle/>
          <a:p>
            <a:pPr indent="0" marL="0">
              <a:buNone/>
            </a:pPr>
            <a:r>
              <a:rPr lang="en-US" sz="950" dirty="0">
                <a:solidFill>
                  <a:srgbClr val="33415C"/>
                </a:solidFill>
                <a:latin typeface="Calibri" pitchFamily="34" charset="0"/>
                <a:ea typeface="Calibri" pitchFamily="34" charset="-122"/>
                <a:cs typeface="Calibri" pitchFamily="34" charset="-120"/>
              </a:rPr>
              <a:t>SQL-first pipelines with SQLX: ref() builds the DAG, assertions test quality, Git is native. Free; you pay only BigQuery compute. The dbt-style layer.</a:t>
            </a:r>
            <a:endParaRPr lang="en-US" sz="950" dirty="0"/>
          </a:p>
        </p:txBody>
      </p:sp>
      <p:sp>
        <p:nvSpPr>
          <p:cNvPr id="14" name="Shape 10"/>
          <p:cNvSpPr/>
          <p:nvPr/>
        </p:nvSpPr>
        <p:spPr>
          <a:xfrm>
            <a:off x="457200" y="2834640"/>
            <a:ext cx="4023360" cy="1463040"/>
          </a:xfrm>
          <a:prstGeom prst="roundRect">
            <a:avLst>
              <a:gd name="adj" fmla="val 4375"/>
            </a:avLst>
          </a:prstGeom>
          <a:solidFill>
            <a:srgbClr val="F4F6FA"/>
          </a:solidFill>
          <a:ln/>
          <a:effectLst>
            <a:outerShdw sx="100000" sy="100000" kx="0" ky="0" algn="bl" rotWithShape="0" blurRad="76200" dist="25400" dir="2700000">
              <a:srgbClr val="000000">
                <a:alpha val="14000"/>
              </a:srgbClr>
            </a:outerShdw>
          </a:effectLst>
        </p:spPr>
      </p:sp>
      <p:sp>
        <p:nvSpPr>
          <p:cNvPr id="15" name="Shape 11"/>
          <p:cNvSpPr/>
          <p:nvPr/>
        </p:nvSpPr>
        <p:spPr>
          <a:xfrm>
            <a:off x="640080" y="3017520"/>
            <a:ext cx="502920" cy="50292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770839" y="3148279"/>
            <a:ext cx="241402" cy="241402"/>
          </a:xfrm>
          <a:prstGeom prst="rect">
            <a:avLst/>
          </a:prstGeom>
        </p:spPr>
      </p:pic>
      <p:sp>
        <p:nvSpPr>
          <p:cNvPr id="17" name="Text 12"/>
          <p:cNvSpPr/>
          <p:nvPr/>
        </p:nvSpPr>
        <p:spPr>
          <a:xfrm>
            <a:off x="1325880" y="298094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Knowledge Catalog</a:t>
            </a:r>
            <a:endParaRPr lang="en-US" sz="1300" dirty="0"/>
          </a:p>
        </p:txBody>
      </p:sp>
      <p:sp>
        <p:nvSpPr>
          <p:cNvPr id="18" name="Text 13"/>
          <p:cNvSpPr/>
          <p:nvPr/>
        </p:nvSpPr>
        <p:spPr>
          <a:xfrm>
            <a:off x="1325880" y="3264408"/>
            <a:ext cx="3063240" cy="987552"/>
          </a:xfrm>
          <a:prstGeom prst="rect">
            <a:avLst/>
          </a:prstGeom>
          <a:noFill/>
          <a:ln/>
        </p:spPr>
        <p:txBody>
          <a:bodyPr wrap="square" lIns="0" tIns="0" rIns="0" bIns="0" rtlCol="0" anchor="ctr"/>
          <a:lstStyle/>
          <a:p>
            <a:pPr indent="0" marL="0">
              <a:buNone/>
            </a:pPr>
            <a:r>
              <a:rPr lang="en-US" sz="950" dirty="0">
                <a:solidFill>
                  <a:srgbClr val="33415C"/>
                </a:solidFill>
                <a:latin typeface="Calibri" pitchFamily="34" charset="0"/>
                <a:ea typeface="Calibri" pitchFamily="34" charset="-122"/>
                <a:cs typeface="Calibri" pitchFamily="34" charset="-120"/>
              </a:rPr>
              <a:t>Universal catalog and governance: auto-discovery, business glossary, column-level lineage, and Gemini-generated descriptions across the estate.</a:t>
            </a:r>
            <a:endParaRPr lang="en-US" sz="950" dirty="0"/>
          </a:p>
        </p:txBody>
      </p:sp>
      <p:sp>
        <p:nvSpPr>
          <p:cNvPr id="19" name="Shape 14"/>
          <p:cNvSpPr/>
          <p:nvPr/>
        </p:nvSpPr>
        <p:spPr>
          <a:xfrm>
            <a:off x="4709160" y="2834640"/>
            <a:ext cx="4023360" cy="1463040"/>
          </a:xfrm>
          <a:prstGeom prst="roundRect">
            <a:avLst>
              <a:gd name="adj" fmla="val 4375"/>
            </a:avLst>
          </a:prstGeom>
          <a:solidFill>
            <a:srgbClr val="EAF1FC"/>
          </a:solidFill>
          <a:ln/>
          <a:effectLst>
            <a:outerShdw sx="100000" sy="100000" kx="0" ky="0" algn="bl" rotWithShape="0" blurRad="76200" dist="25400" dir="2700000">
              <a:srgbClr val="000000">
                <a:alpha val="14000"/>
              </a:srgbClr>
            </a:outerShdw>
          </a:effectLst>
        </p:spPr>
      </p:sp>
      <p:sp>
        <p:nvSpPr>
          <p:cNvPr id="20" name="Shape 15"/>
          <p:cNvSpPr/>
          <p:nvPr/>
        </p:nvSpPr>
        <p:spPr>
          <a:xfrm>
            <a:off x="4892040" y="3017520"/>
            <a:ext cx="502920" cy="50292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5022799" y="3148279"/>
            <a:ext cx="241402" cy="241402"/>
          </a:xfrm>
          <a:prstGeom prst="rect">
            <a:avLst/>
          </a:prstGeom>
        </p:spPr>
      </p:pic>
      <p:sp>
        <p:nvSpPr>
          <p:cNvPr id="22" name="Text 16"/>
          <p:cNvSpPr/>
          <p:nvPr/>
        </p:nvSpPr>
        <p:spPr>
          <a:xfrm>
            <a:off x="5577840" y="2980944"/>
            <a:ext cx="301752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BigQuery Pipelines</a:t>
            </a:r>
            <a:endParaRPr lang="en-US" sz="1300" dirty="0"/>
          </a:p>
        </p:txBody>
      </p:sp>
      <p:sp>
        <p:nvSpPr>
          <p:cNvPr id="23" name="Text 17"/>
          <p:cNvSpPr/>
          <p:nvPr/>
        </p:nvSpPr>
        <p:spPr>
          <a:xfrm>
            <a:off x="5577840" y="3264408"/>
            <a:ext cx="3063240" cy="987552"/>
          </a:xfrm>
          <a:prstGeom prst="rect">
            <a:avLst/>
          </a:prstGeom>
          <a:noFill/>
          <a:ln/>
        </p:spPr>
        <p:txBody>
          <a:bodyPr wrap="square" lIns="0" tIns="0" rIns="0" bIns="0" rtlCol="0" anchor="ctr"/>
          <a:lstStyle/>
          <a:p>
            <a:pPr indent="0" marL="0">
              <a:buNone/>
            </a:pPr>
            <a:r>
              <a:rPr lang="en-US" sz="950" dirty="0">
                <a:solidFill>
                  <a:srgbClr val="33415C"/>
                </a:solidFill>
                <a:latin typeface="Calibri" pitchFamily="34" charset="0"/>
                <a:ea typeface="Calibri" pitchFamily="34" charset="-122"/>
                <a:cs typeface="Calibri" pitchFamily="34" charset="-120"/>
              </a:rPr>
              <a:t>Sequence SQL, notebooks, and AI-assisted data preparation inside BigQuery Studio. Gemini turns plain-language requests into transformation steps.</a:t>
            </a:r>
            <a:endParaRPr lang="en-US" sz="950" dirty="0"/>
          </a:p>
        </p:txBody>
      </p:sp>
      <p:sp>
        <p:nvSpPr>
          <p:cNvPr id="25" name="Text 18"/>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HEAD TO HEAD</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Authoring modes, both clouds</a:t>
            </a:r>
            <a:endParaRPr lang="en-US" sz="2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2926080"/>
                <a:gridCol w="2926080"/>
              </a:tblGrid>
              <a:tr h="3383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AWS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Google Cloud</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1E2761"/>
                    </a:solidFill>
                  </a:tcPr>
                </a:tc>
              </a:tr>
              <a:tr h="33832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No-code visual canvas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Glue Studio Visual ETL</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Data Fusion Pipeline Studio</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3832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No-code cleansing</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Glue Data Preparation</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Wrangler / BigQuery data preparation</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3832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Interactive notebooks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Glue Interactive Sessions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Managed Spark sessions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3832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Code-first Spark</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Glue ETL scripts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Managed Spark (serverless or cluster)</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3832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Code-first Beam</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Not offered</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Cloud Dataflow</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3832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SQL pipelines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Spark SQL in Glue jobs</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Dataform in BigQuery Studio</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3832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CDC / replication</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Glue Zero-ETL</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Datastream</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38328">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GenAI authoring</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Amazon Q Data Integration</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050" dirty="0">
                          <a:solidFill>
                            <a:srgbClr val="33415C"/>
                          </a:solidFill>
                          <a:latin typeface="Calibri" pitchFamily="34" charset="0"/>
                          <a:ea typeface="Calibri" pitchFamily="34" charset="-122"/>
                          <a:cs typeface="Calibri" pitchFamily="34" charset="-120"/>
                        </a:rPr>
                        <a:t>Gemini in BigQuery / Data Fusion</a:t>
                      </a:r>
                      <a:endParaRPr lang="en-US" sz="1050" dirty="0">
                        <a:latin typeface="Calibri" charset="0"/>
                        <a:ea typeface="Calibri" charset="0"/>
                        <a:cs typeface="Calibri" charset="0"/>
                      </a:endParaRPr>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bl>
          </a:graphicData>
        </a:graphic>
      </p:graphicFrame>
      <p:sp>
        <p:nvSpPr>
          <p:cNvPr id="6" name="Text 2"/>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3" name="Shape 1"/>
          <p:cNvSpPr/>
          <p:nvPr/>
        </p:nvSpPr>
        <p:spPr>
          <a:xfrm>
            <a:off x="457200" y="1188720"/>
            <a:ext cx="2651760" cy="1645920"/>
          </a:xfrm>
          <a:prstGeom prst="roundRect">
            <a:avLst>
              <a:gd name="adj" fmla="val 3889"/>
            </a:avLst>
          </a:prstGeom>
          <a:solidFill>
            <a:srgbClr val="27335F"/>
          </a:solidFill>
          <a:ln/>
        </p:spPr>
      </p:sp>
      <p:sp>
        <p:nvSpPr>
          <p:cNvPr id="4" name="Text 2"/>
          <p:cNvSpPr/>
          <p:nvPr/>
        </p:nvSpPr>
        <p:spPr>
          <a:xfrm>
            <a:off x="621792" y="1316736"/>
            <a:ext cx="457200" cy="365760"/>
          </a:xfrm>
          <a:prstGeom prst="rect">
            <a:avLst/>
          </a:prstGeom>
          <a:noFill/>
          <a:ln/>
        </p:spPr>
        <p:txBody>
          <a:bodyPr wrap="square" lIns="0" tIns="0" rIns="0" bIns="0" rtlCol="0" anchor="ctr"/>
          <a:lstStyle/>
          <a:p>
            <a:pPr indent="0" marL="0">
              <a:buNone/>
            </a:pPr>
            <a:r>
              <a:rPr lang="en-US" sz="2000" b="1" dirty="0">
                <a:solidFill>
                  <a:srgbClr val="F0A83C"/>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621792" y="1691640"/>
            <a:ext cx="233172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Platform vs portfolio</a:t>
            </a:r>
            <a:endParaRPr lang="en-US" sz="1250" dirty="0"/>
          </a:p>
        </p:txBody>
      </p:sp>
      <p:sp>
        <p:nvSpPr>
          <p:cNvPr id="6" name="Text 4"/>
          <p:cNvSpPr/>
          <p:nvPr/>
        </p:nvSpPr>
        <p:spPr>
          <a:xfrm>
            <a:off x="621792" y="2011680"/>
            <a:ext cx="2331720" cy="77724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Glue is one umbrella; GCP makes you the architect who assembles the pieces.</a:t>
            </a:r>
            <a:endParaRPr lang="en-US" sz="950" dirty="0"/>
          </a:p>
        </p:txBody>
      </p:sp>
      <p:sp>
        <p:nvSpPr>
          <p:cNvPr id="7" name="Shape 5"/>
          <p:cNvSpPr/>
          <p:nvPr/>
        </p:nvSpPr>
        <p:spPr>
          <a:xfrm>
            <a:off x="3291840" y="1188720"/>
            <a:ext cx="2651760" cy="1645920"/>
          </a:xfrm>
          <a:prstGeom prst="roundRect">
            <a:avLst>
              <a:gd name="adj" fmla="val 3889"/>
            </a:avLst>
          </a:prstGeom>
          <a:solidFill>
            <a:srgbClr val="27335F"/>
          </a:solidFill>
          <a:ln/>
        </p:spPr>
      </p:sp>
      <p:sp>
        <p:nvSpPr>
          <p:cNvPr id="8" name="Text 6"/>
          <p:cNvSpPr/>
          <p:nvPr/>
        </p:nvSpPr>
        <p:spPr>
          <a:xfrm>
            <a:off x="3456432" y="1316736"/>
            <a:ext cx="457200" cy="365760"/>
          </a:xfrm>
          <a:prstGeom prst="rect">
            <a:avLst/>
          </a:prstGeom>
          <a:noFill/>
          <a:ln/>
        </p:spPr>
        <p:txBody>
          <a:bodyPr wrap="square" lIns="0" tIns="0" rIns="0" bIns="0" rtlCol="0" anchor="ctr"/>
          <a:lstStyle/>
          <a:p>
            <a:pPr indent="0" marL="0">
              <a:buNone/>
            </a:pPr>
            <a:r>
              <a:rPr lang="en-US" sz="2000" b="1" dirty="0">
                <a:solidFill>
                  <a:srgbClr val="8FB4F5"/>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3456432" y="1691640"/>
            <a:ext cx="233172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Pick abstraction deliberately</a:t>
            </a:r>
            <a:endParaRPr lang="en-US" sz="1250" dirty="0"/>
          </a:p>
        </p:txBody>
      </p:sp>
      <p:sp>
        <p:nvSpPr>
          <p:cNvPr id="10" name="Text 8"/>
          <p:cNvSpPr/>
          <p:nvPr/>
        </p:nvSpPr>
        <p:spPr>
          <a:xfrm>
            <a:off x="3456432" y="2011680"/>
            <a:ext cx="2331720" cy="77724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No-code to full code is a continuum. Choose by persona and use case, not prestige.</a:t>
            </a:r>
            <a:endParaRPr lang="en-US" sz="950" dirty="0"/>
          </a:p>
        </p:txBody>
      </p:sp>
      <p:sp>
        <p:nvSpPr>
          <p:cNvPr id="11" name="Shape 9"/>
          <p:cNvSpPr/>
          <p:nvPr/>
        </p:nvSpPr>
        <p:spPr>
          <a:xfrm>
            <a:off x="6126480" y="1188720"/>
            <a:ext cx="2651760" cy="1645920"/>
          </a:xfrm>
          <a:prstGeom prst="roundRect">
            <a:avLst>
              <a:gd name="adj" fmla="val 3889"/>
            </a:avLst>
          </a:prstGeom>
          <a:solidFill>
            <a:srgbClr val="27335F"/>
          </a:solidFill>
          <a:ln/>
        </p:spPr>
      </p:sp>
      <p:sp>
        <p:nvSpPr>
          <p:cNvPr id="12" name="Text 10"/>
          <p:cNvSpPr/>
          <p:nvPr/>
        </p:nvSpPr>
        <p:spPr>
          <a:xfrm>
            <a:off x="6291072" y="1316736"/>
            <a:ext cx="457200" cy="365760"/>
          </a:xfrm>
          <a:prstGeom prst="rect">
            <a:avLst/>
          </a:prstGeom>
          <a:noFill/>
          <a:ln/>
        </p:spPr>
        <p:txBody>
          <a:bodyPr wrap="square" lIns="0" tIns="0" rIns="0" bIns="0" rtlCol="0" anchor="ctr"/>
          <a:lstStyle/>
          <a:p>
            <a:pPr indent="0" marL="0">
              <a:buNone/>
            </a:pPr>
            <a:r>
              <a:rPr lang="en-US" sz="2000" b="1" dirty="0">
                <a:solidFill>
                  <a:srgbClr val="F0A83C"/>
                </a:solidFill>
                <a:latin typeface="Calibri" pitchFamily="34" charset="0"/>
                <a:ea typeface="Calibri" pitchFamily="34" charset="-122"/>
                <a:cs typeface="Calibri" pitchFamily="34" charset="-120"/>
              </a:rPr>
              <a:t>3</a:t>
            </a:r>
            <a:endParaRPr lang="en-US" sz="2000" dirty="0"/>
          </a:p>
        </p:txBody>
      </p:sp>
      <p:sp>
        <p:nvSpPr>
          <p:cNvPr id="13" name="Text 11"/>
          <p:cNvSpPr/>
          <p:nvPr/>
        </p:nvSpPr>
        <p:spPr>
          <a:xfrm>
            <a:off x="6291072" y="1691640"/>
            <a:ext cx="233172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Iceberg is the currency</a:t>
            </a:r>
            <a:endParaRPr lang="en-US" sz="1250" dirty="0"/>
          </a:p>
        </p:txBody>
      </p:sp>
      <p:sp>
        <p:nvSpPr>
          <p:cNvPr id="14" name="Text 12"/>
          <p:cNvSpPr/>
          <p:nvPr/>
        </p:nvSpPr>
        <p:spPr>
          <a:xfrm>
            <a:off x="6291072" y="2011680"/>
            <a:ext cx="2331720" cy="77724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Both clouds standardized on Apache Iceberg. Table formats now outrank engines.</a:t>
            </a:r>
            <a:endParaRPr lang="en-US" sz="950" dirty="0"/>
          </a:p>
        </p:txBody>
      </p:sp>
      <p:sp>
        <p:nvSpPr>
          <p:cNvPr id="15" name="Shape 13"/>
          <p:cNvSpPr/>
          <p:nvPr/>
        </p:nvSpPr>
        <p:spPr>
          <a:xfrm>
            <a:off x="457200" y="2971800"/>
            <a:ext cx="2651760" cy="1645920"/>
          </a:xfrm>
          <a:prstGeom prst="roundRect">
            <a:avLst>
              <a:gd name="adj" fmla="val 3889"/>
            </a:avLst>
          </a:prstGeom>
          <a:solidFill>
            <a:srgbClr val="27335F"/>
          </a:solidFill>
          <a:ln/>
        </p:spPr>
      </p:sp>
      <p:sp>
        <p:nvSpPr>
          <p:cNvPr id="16" name="Text 14"/>
          <p:cNvSpPr/>
          <p:nvPr/>
        </p:nvSpPr>
        <p:spPr>
          <a:xfrm>
            <a:off x="621792" y="3099816"/>
            <a:ext cx="457200" cy="365760"/>
          </a:xfrm>
          <a:prstGeom prst="rect">
            <a:avLst/>
          </a:prstGeom>
          <a:noFill/>
          <a:ln/>
        </p:spPr>
        <p:txBody>
          <a:bodyPr wrap="square" lIns="0" tIns="0" rIns="0" bIns="0" rtlCol="0" anchor="ctr"/>
          <a:lstStyle/>
          <a:p>
            <a:pPr indent="0" marL="0">
              <a:buNone/>
            </a:pPr>
            <a:r>
              <a:rPr lang="en-US" sz="2000" b="1" dirty="0">
                <a:solidFill>
                  <a:srgbClr val="8FB4F5"/>
                </a:solidFill>
                <a:latin typeface="Calibri" pitchFamily="34" charset="0"/>
                <a:ea typeface="Calibri" pitchFamily="34" charset="-122"/>
                <a:cs typeface="Calibri" pitchFamily="34" charset="-120"/>
              </a:rPr>
              <a:t>4</a:t>
            </a:r>
            <a:endParaRPr lang="en-US" sz="2000" dirty="0"/>
          </a:p>
        </p:txBody>
      </p:sp>
      <p:sp>
        <p:nvSpPr>
          <p:cNvPr id="17" name="Text 15"/>
          <p:cNvSpPr/>
          <p:nvPr/>
        </p:nvSpPr>
        <p:spPr>
          <a:xfrm>
            <a:off x="621792" y="3474720"/>
            <a:ext cx="233172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GenAI is production-grade</a:t>
            </a:r>
            <a:endParaRPr lang="en-US" sz="1250" dirty="0"/>
          </a:p>
        </p:txBody>
      </p:sp>
      <p:sp>
        <p:nvSpPr>
          <p:cNvPr id="18" name="Text 16"/>
          <p:cNvSpPr/>
          <p:nvPr/>
        </p:nvSpPr>
        <p:spPr>
          <a:xfrm>
            <a:off x="621792" y="3794760"/>
            <a:ext cx="2331720" cy="77724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Amazon Q and Gemini author real pipelines. Prompting joins the curriculum.</a:t>
            </a:r>
            <a:endParaRPr lang="en-US" sz="950" dirty="0"/>
          </a:p>
        </p:txBody>
      </p:sp>
      <p:sp>
        <p:nvSpPr>
          <p:cNvPr id="19" name="Shape 17"/>
          <p:cNvSpPr/>
          <p:nvPr/>
        </p:nvSpPr>
        <p:spPr>
          <a:xfrm>
            <a:off x="3291840" y="2971800"/>
            <a:ext cx="2651760" cy="1645920"/>
          </a:xfrm>
          <a:prstGeom prst="roundRect">
            <a:avLst>
              <a:gd name="adj" fmla="val 3889"/>
            </a:avLst>
          </a:prstGeom>
          <a:solidFill>
            <a:srgbClr val="27335F"/>
          </a:solidFill>
          <a:ln/>
        </p:spPr>
      </p:sp>
      <p:sp>
        <p:nvSpPr>
          <p:cNvPr id="20" name="Text 18"/>
          <p:cNvSpPr/>
          <p:nvPr/>
        </p:nvSpPr>
        <p:spPr>
          <a:xfrm>
            <a:off x="3456432" y="3099816"/>
            <a:ext cx="457200" cy="365760"/>
          </a:xfrm>
          <a:prstGeom prst="rect">
            <a:avLst/>
          </a:prstGeom>
          <a:noFill/>
          <a:ln/>
        </p:spPr>
        <p:txBody>
          <a:bodyPr wrap="square" lIns="0" tIns="0" rIns="0" bIns="0" rtlCol="0" anchor="ctr"/>
          <a:lstStyle/>
          <a:p>
            <a:pPr indent="0" marL="0">
              <a:buNone/>
            </a:pPr>
            <a:r>
              <a:rPr lang="en-US" sz="2000" b="1" dirty="0">
                <a:solidFill>
                  <a:srgbClr val="F0A83C"/>
                </a:solidFill>
                <a:latin typeface="Calibri" pitchFamily="34" charset="0"/>
                <a:ea typeface="Calibri" pitchFamily="34" charset="-122"/>
                <a:cs typeface="Calibri" pitchFamily="34" charset="-120"/>
              </a:rPr>
              <a:t>5</a:t>
            </a:r>
            <a:endParaRPr lang="en-US" sz="2000" dirty="0"/>
          </a:p>
        </p:txBody>
      </p:sp>
      <p:sp>
        <p:nvSpPr>
          <p:cNvPr id="21" name="Text 19"/>
          <p:cNvSpPr/>
          <p:nvPr/>
        </p:nvSpPr>
        <p:spPr>
          <a:xfrm>
            <a:off x="3456432" y="3474720"/>
            <a:ext cx="233172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Catalogs are federating</a:t>
            </a:r>
            <a:endParaRPr lang="en-US" sz="1250" dirty="0"/>
          </a:p>
        </p:txBody>
      </p:sp>
      <p:sp>
        <p:nvSpPr>
          <p:cNvPr id="22" name="Text 20"/>
          <p:cNvSpPr/>
          <p:nvPr/>
        </p:nvSpPr>
        <p:spPr>
          <a:xfrm>
            <a:off x="3456432" y="3794760"/>
            <a:ext cx="2331720" cy="77724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Iceberg REST lets Glue query Unity and Horizon catalogs in place. Data mesh gets real.</a:t>
            </a:r>
            <a:endParaRPr lang="en-US" sz="950" dirty="0"/>
          </a:p>
        </p:txBody>
      </p:sp>
      <p:sp>
        <p:nvSpPr>
          <p:cNvPr id="23" name="Shape 21"/>
          <p:cNvSpPr/>
          <p:nvPr/>
        </p:nvSpPr>
        <p:spPr>
          <a:xfrm>
            <a:off x="6126480" y="2971800"/>
            <a:ext cx="2651760" cy="1645920"/>
          </a:xfrm>
          <a:prstGeom prst="roundRect">
            <a:avLst>
              <a:gd name="adj" fmla="val 3889"/>
            </a:avLst>
          </a:prstGeom>
          <a:solidFill>
            <a:srgbClr val="27335F"/>
          </a:solidFill>
          <a:ln/>
        </p:spPr>
      </p:sp>
      <p:sp>
        <p:nvSpPr>
          <p:cNvPr id="24" name="Text 22"/>
          <p:cNvSpPr/>
          <p:nvPr/>
        </p:nvSpPr>
        <p:spPr>
          <a:xfrm>
            <a:off x="6291072" y="3099816"/>
            <a:ext cx="457200" cy="365760"/>
          </a:xfrm>
          <a:prstGeom prst="rect">
            <a:avLst/>
          </a:prstGeom>
          <a:noFill/>
          <a:ln/>
        </p:spPr>
        <p:txBody>
          <a:bodyPr wrap="square" lIns="0" tIns="0" rIns="0" bIns="0" rtlCol="0" anchor="ctr"/>
          <a:lstStyle/>
          <a:p>
            <a:pPr indent="0" marL="0">
              <a:buNone/>
            </a:pPr>
            <a:r>
              <a:rPr lang="en-US" sz="2000" b="1" dirty="0">
                <a:solidFill>
                  <a:srgbClr val="8FB4F5"/>
                </a:solidFill>
                <a:latin typeface="Calibri" pitchFamily="34" charset="0"/>
                <a:ea typeface="Calibri" pitchFamily="34" charset="-122"/>
                <a:cs typeface="Calibri" pitchFamily="34" charset="-120"/>
              </a:rPr>
              <a:t>6</a:t>
            </a:r>
            <a:endParaRPr lang="en-US" sz="2000" dirty="0"/>
          </a:p>
        </p:txBody>
      </p:sp>
      <p:sp>
        <p:nvSpPr>
          <p:cNvPr id="25" name="Text 23"/>
          <p:cNvSpPr/>
          <p:nvPr/>
        </p:nvSpPr>
        <p:spPr>
          <a:xfrm>
            <a:off x="6291072" y="3474720"/>
            <a:ext cx="233172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Judgment beats tooling</a:t>
            </a:r>
            <a:endParaRPr lang="en-US" sz="1250" dirty="0"/>
          </a:p>
        </p:txBody>
      </p:sp>
      <p:sp>
        <p:nvSpPr>
          <p:cNvPr id="26" name="Text 24"/>
          <p:cNvSpPr/>
          <p:nvPr/>
        </p:nvSpPr>
        <p:spPr>
          <a:xfrm>
            <a:off x="6291072" y="3794760"/>
            <a:ext cx="2331720" cy="77724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You debugged raw parquet this week. No canvas replaces knowing what is underneath.</a:t>
            </a:r>
            <a:endParaRPr lang="en-US" sz="950" dirty="0"/>
          </a:p>
        </p:txBody>
      </p:sp>
      <p:sp>
        <p:nvSpPr>
          <p:cNvPr id="28" name="Text 25"/>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1050" b="1" spc="200" kern="0" dirty="0">
                <a:solidFill>
                  <a:srgbClr val="D97706"/>
                </a:solidFill>
                <a:latin typeface="Calibri" pitchFamily="34" charset="0"/>
                <a:ea typeface="Calibri" pitchFamily="34" charset="-122"/>
                <a:cs typeface="Calibri" pitchFamily="34" charset="-120"/>
              </a:rPr>
              <a:t>WRAP UP</a:t>
            </a:r>
            <a:endParaRPr lang="en-US" sz="1050" dirty="0"/>
          </a:p>
        </p:txBody>
      </p:sp>
      <p:sp>
        <p:nvSpPr>
          <p:cNvPr id="3" name="Text 1"/>
          <p:cNvSpPr/>
          <p:nvPr/>
        </p:nvSpPr>
        <p:spPr>
          <a:xfrm>
            <a:off x="457200" y="457200"/>
            <a:ext cx="8229600" cy="502920"/>
          </a:xfrm>
          <a:prstGeom prst="rect">
            <a:avLst/>
          </a:prstGeom>
          <a:noFill/>
          <a:ln/>
        </p:spPr>
        <p:txBody>
          <a:bodyPr wrap="square" lIns="0" tIns="0" rIns="0" bIns="0" rtlCol="0" anchor="ctr"/>
          <a:lstStyle/>
          <a:p>
            <a:pPr indent="0" marL="0">
              <a:buNone/>
            </a:pPr>
            <a:r>
              <a:rPr lang="en-US" sz="2500" b="1" dirty="0">
                <a:solidFill>
                  <a:srgbClr val="1E2761"/>
                </a:solidFill>
                <a:latin typeface="Calibri" pitchFamily="34" charset="0"/>
                <a:ea typeface="Calibri" pitchFamily="34" charset="-122"/>
                <a:cs typeface="Calibri" pitchFamily="34" charset="-120"/>
              </a:rPr>
              <a:t>Where this goes next</a:t>
            </a:r>
            <a:endParaRPr lang="en-US" sz="2500" dirty="0"/>
          </a:p>
        </p:txBody>
      </p:sp>
      <p:sp>
        <p:nvSpPr>
          <p:cNvPr id="4" name="Text 2"/>
          <p:cNvSpPr/>
          <p:nvPr/>
        </p:nvSpPr>
        <p:spPr>
          <a:xfrm>
            <a:off x="457200" y="1234440"/>
            <a:ext cx="5303520" cy="3017520"/>
          </a:xfrm>
          <a:prstGeom prst="rect">
            <a:avLst/>
          </a:prstGeom>
          <a:noFill/>
          <a:ln/>
        </p:spPr>
        <p:txBody>
          <a:bodyPr wrap="square" rtlCol="0" anchor="t"/>
          <a:lstStyle/>
          <a:p>
            <a:pPr marL="152400" indent="-152400">
              <a:spcAft>
                <a:spcPts val="1300"/>
              </a:spcAft>
              <a:buSzPct val="100000"/>
              <a:buChar char="•"/>
            </a:pPr>
            <a:r>
              <a:rPr lang="en-US" sz="1250" dirty="0">
                <a:solidFill>
                  <a:srgbClr val="33415C"/>
                </a:solidFill>
                <a:latin typeface="Calibri" pitchFamily="34" charset="0"/>
                <a:ea typeface="Calibri" pitchFamily="34" charset="-122"/>
                <a:cs typeface="Calibri" pitchFamily="34" charset="-120"/>
              </a:rPr>
              <a:t>Finish the lab deliverables: bronze and silver evidence plus your medallion notes.</a:t>
            </a:r>
            <a:endParaRPr lang="en-US" sz="1250" dirty="0"/>
          </a:p>
          <a:p>
            <a:pPr marL="152400" indent="-152400">
              <a:spcAft>
                <a:spcPts val="1300"/>
              </a:spcAft>
              <a:buSzPct val="100000"/>
              <a:buChar char="•"/>
            </a:pPr>
            <a:r>
              <a:rPr lang="en-US" sz="1250" dirty="0">
                <a:solidFill>
                  <a:srgbClr val="33415C"/>
                </a:solidFill>
                <a:latin typeface="Calibri" pitchFamily="34" charset="0"/>
                <a:ea typeface="Calibri" pitchFamily="34" charset="-122"/>
                <a:cs typeface="Calibri" pitchFamily="34" charset="-120"/>
              </a:rPr>
              <a:t>Week 4: Snowflake and advanced SQL. Watch for the same medallion vocabulary.</a:t>
            </a:r>
            <a:endParaRPr lang="en-US" sz="1250" dirty="0"/>
          </a:p>
          <a:p>
            <a:pPr marL="152400" indent="-152400">
              <a:spcAft>
                <a:spcPts val="1300"/>
              </a:spcAft>
              <a:buSzPct val="100000"/>
              <a:buChar char="•"/>
            </a:pPr>
            <a:r>
              <a:rPr lang="en-US" sz="1250" dirty="0">
                <a:solidFill>
                  <a:srgbClr val="33415C"/>
                </a:solidFill>
                <a:latin typeface="Calibri" pitchFamily="34" charset="0"/>
                <a:ea typeface="Calibri" pitchFamily="34" charset="-122"/>
                <a:cs typeface="Calibri" pitchFamily="34" charset="-120"/>
              </a:rPr>
              <a:t>Week 5: you write the PySpark yourself. Today's generated scripts are your preview.</a:t>
            </a:r>
            <a:endParaRPr lang="en-US" sz="1250" dirty="0"/>
          </a:p>
          <a:p>
            <a:pPr marL="152400" indent="-152400">
              <a:spcAft>
                <a:spcPts val="1300"/>
              </a:spcAft>
              <a:buSzPct val="100000"/>
              <a:buChar char="•"/>
            </a:pPr>
            <a:r>
              <a:rPr lang="en-US" sz="1250" dirty="0">
                <a:solidFill>
                  <a:srgbClr val="33415C"/>
                </a:solidFill>
                <a:latin typeface="Calibri" pitchFamily="34" charset="0"/>
                <a:ea typeface="Calibri" pitchFamily="34" charset="-122"/>
                <a:cs typeface="Calibri" pitchFamily="34" charset="-120"/>
              </a:rPr>
              <a:t>Discussion prompt: your team inherits a GCP estate after an acquisition. Which three services replace your Glue pipelines, and what breaks?</a:t>
            </a:r>
            <a:endParaRPr lang="en-US" sz="1250" dirty="0"/>
          </a:p>
        </p:txBody>
      </p:sp>
      <p:sp>
        <p:nvSpPr>
          <p:cNvPr id="5" name="Shape 3"/>
          <p:cNvSpPr/>
          <p:nvPr/>
        </p:nvSpPr>
        <p:spPr>
          <a:xfrm>
            <a:off x="6035040" y="1371600"/>
            <a:ext cx="2651760" cy="3017520"/>
          </a:xfrm>
          <a:prstGeom prst="roundRect">
            <a:avLst>
              <a:gd name="adj" fmla="val 2414"/>
            </a:avLst>
          </a:prstGeom>
          <a:solidFill>
            <a:srgbClr val="F4F6FA"/>
          </a:solidFill>
          <a:ln/>
          <a:effectLst>
            <a:outerShdw sx="100000" sy="100000" kx="0" ky="0" algn="bl" rotWithShape="0" blurRad="76200" dist="25400" dir="2700000">
              <a:srgbClr val="000000">
                <a:alpha val="14000"/>
              </a:srgbClr>
            </a:outerShdw>
          </a:effectLst>
        </p:spPr>
      </p:sp>
      <p:sp>
        <p:nvSpPr>
          <p:cNvPr id="6" name="Text 4"/>
          <p:cNvSpPr/>
          <p:nvPr/>
        </p:nvSpPr>
        <p:spPr>
          <a:xfrm>
            <a:off x="6263640" y="1554480"/>
            <a:ext cx="219456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Go deeper</a:t>
            </a:r>
            <a:endParaRPr lang="en-US" sz="1300" dirty="0"/>
          </a:p>
        </p:txBody>
      </p:sp>
      <p:sp>
        <p:nvSpPr>
          <p:cNvPr id="7" name="Text 5"/>
          <p:cNvSpPr/>
          <p:nvPr/>
        </p:nvSpPr>
        <p:spPr>
          <a:xfrm>
            <a:off x="6263640" y="1920240"/>
            <a:ext cx="2240280" cy="2286000"/>
          </a:xfrm>
          <a:prstGeom prst="rect">
            <a:avLst/>
          </a:prstGeom>
          <a:noFill/>
          <a:ln/>
        </p:spPr>
        <p:txBody>
          <a:bodyPr wrap="square" rtlCol="0" anchor="t"/>
          <a:lstStyle/>
          <a:p>
            <a:pPr indent="0" marL="0">
              <a:spcAft>
                <a:spcPts val="700"/>
              </a:spcAft>
              <a:buNone/>
            </a:pPr>
            <a:r>
              <a:rPr lang="en-US" sz="1050" dirty="0">
                <a:solidFill>
                  <a:srgbClr val="33415C"/>
                </a:solidFill>
                <a:latin typeface="Calibri" pitchFamily="34" charset="0"/>
                <a:ea typeface="Calibri" pitchFamily="34" charset="-122"/>
                <a:cs typeface="Calibri" pitchFamily="34" charset="-120"/>
              </a:rPr>
              <a:t>AWS Glue documentation</a:t>
            </a:r>
            <a:endParaRPr lang="en-US" sz="1050" dirty="0"/>
          </a:p>
          <a:p>
            <a:pPr indent="0" marL="0">
              <a:spcAft>
                <a:spcPts val="700"/>
              </a:spcAft>
              <a:buNone/>
            </a:pPr>
            <a:r>
              <a:rPr lang="en-US" sz="1050" dirty="0">
                <a:solidFill>
                  <a:srgbClr val="33415C"/>
                </a:solidFill>
                <a:latin typeface="Calibri" pitchFamily="34" charset="0"/>
                <a:ea typeface="Calibri" pitchFamily="34" charset="-122"/>
                <a:cs typeface="Calibri" pitchFamily="34" charset="-120"/>
              </a:rPr>
              <a:t>Glue 5.1 release notes</a:t>
            </a:r>
            <a:endParaRPr lang="en-US" sz="1050" dirty="0"/>
          </a:p>
          <a:p>
            <a:pPr indent="0" marL="0">
              <a:spcAft>
                <a:spcPts val="700"/>
              </a:spcAft>
              <a:buNone/>
            </a:pPr>
            <a:r>
              <a:rPr lang="en-US" sz="1050" dirty="0">
                <a:solidFill>
                  <a:srgbClr val="33415C"/>
                </a:solidFill>
                <a:latin typeface="Calibri" pitchFamily="34" charset="0"/>
                <a:ea typeface="Calibri" pitchFamily="34" charset="-122"/>
                <a:cs typeface="Calibri" pitchFamily="34" charset="-120"/>
              </a:rPr>
              <a:t>Cloud Data Fusion docs</a:t>
            </a:r>
            <a:endParaRPr lang="en-US" sz="1050" dirty="0"/>
          </a:p>
          <a:p>
            <a:pPr indent="0" marL="0">
              <a:spcAft>
                <a:spcPts val="700"/>
              </a:spcAft>
              <a:buNone/>
            </a:pPr>
            <a:r>
              <a:rPr lang="en-US" sz="1050" dirty="0">
                <a:solidFill>
                  <a:srgbClr val="33415C"/>
                </a:solidFill>
                <a:latin typeface="Calibri" pitchFamily="34" charset="0"/>
                <a:ea typeface="Calibri" pitchFamily="34" charset="-122"/>
                <a:cs typeface="Calibri" pitchFamily="34" charset="-120"/>
              </a:rPr>
              <a:t>Dataflow innovations blog</a:t>
            </a:r>
            <a:endParaRPr lang="en-US" sz="1050" dirty="0"/>
          </a:p>
          <a:p>
            <a:pPr indent="0" marL="0">
              <a:spcAft>
                <a:spcPts val="700"/>
              </a:spcAft>
              <a:buNone/>
            </a:pPr>
            <a:r>
              <a:rPr lang="en-US" sz="1050" dirty="0">
                <a:solidFill>
                  <a:srgbClr val="33415C"/>
                </a:solidFill>
                <a:latin typeface="Calibri" pitchFamily="34" charset="0"/>
                <a:ea typeface="Calibri" pitchFamily="34" charset="-122"/>
                <a:cs typeface="Calibri" pitchFamily="34" charset="-120"/>
              </a:rPr>
              <a:t>Dataform SQLX guide</a:t>
            </a:r>
            <a:endParaRPr lang="en-US" sz="1050" dirty="0"/>
          </a:p>
          <a:p>
            <a:pPr indent="0" marL="0">
              <a:buNone/>
            </a:pPr>
            <a:r>
              <a:rPr lang="en-US" sz="1050" b="1" dirty="0">
                <a:solidFill>
                  <a:srgbClr val="33415C"/>
                </a:solidFill>
                <a:latin typeface="Calibri" pitchFamily="34" charset="0"/>
                <a:ea typeface="Calibri" pitchFamily="34" charset="-122"/>
                <a:cs typeface="Calibri" pitchFamily="34" charset="-120"/>
              </a:rPr>
              <a:t>Full comparison guide in the lab folder</a:t>
            </a:r>
            <a:endParaRPr lang="en-US" sz="1050" dirty="0"/>
          </a:p>
        </p:txBody>
      </p:sp>
      <p:sp>
        <p:nvSpPr>
          <p:cNvPr id="9" name="Text 6"/>
          <p:cNvSpPr/>
          <p:nvPr/>
        </p:nvSpPr>
        <p:spPr>
          <a:xfrm>
            <a:off x="8641080" y="482803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Glue and Google Cloud Equivalents (2026)</dc:title>
  <dc:subject>PptxGenJS Presentation</dc:subject>
  <dc:creator>TechCatalyst Data Engineering 2026</dc:creator>
  <cp:lastModifiedBy>TechCatalyst Data Engineering 2026</cp:lastModifiedBy>
  <cp:revision>1</cp:revision>
  <dcterms:created xsi:type="dcterms:W3CDTF">2026-07-10T16:49:40Z</dcterms:created>
  <dcterms:modified xsi:type="dcterms:W3CDTF">2026-07-10T16:49:40Z</dcterms:modified>
</cp:coreProperties>
</file>